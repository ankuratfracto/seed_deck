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0689336" cy="75620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ra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"/>
            <a:ext cx="658368" cy="2057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0" y="329184"/>
            <a:ext cx="1828800" cy="2286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r"/>
            <a:r>
              <a:rPr sz="830" b="1">
                <a:solidFill>
                  <a:srgbClr val="324463"/>
                </a:solidFill>
                <a:latin typeface="IBM Plex Sans"/>
              </a:rPr>
              <a:t>Quick Commerce Ops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14032"/>
            <a:ext cx="2926080" cy="21945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850" b="0">
                <a:solidFill>
                  <a:srgbClr val="324463"/>
                </a:solidFill>
                <a:latin typeface="IBM Plex Sans"/>
              </a:rPr>
              <a:t>Prepared for {{lead_company_name}}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46920" y="7114032"/>
            <a:ext cx="502920" cy="21945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r"/>
            <a:r>
              <a:rPr sz="850" b="0">
                <a:solidFill>
                  <a:srgbClr val="324463"/>
                </a:solidFill>
                <a:latin typeface="IBM Plex Sans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932688"/>
            <a:ext cx="3886200" cy="329184"/>
          </a:xfrm>
          <a:prstGeom prst="roundRect">
            <a:avLst>
              <a:gd name="adj" fmla="val 50000"/>
            </a:avLst>
          </a:prstGeom>
          <a:solidFill>
            <a:srgbClr val="D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996696"/>
            <a:ext cx="3666744" cy="1828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840" b="1">
                <a:solidFill>
                  <a:srgbClr val="0B6D60"/>
                </a:solidFill>
                <a:latin typeface="IBM Plex Sans"/>
              </a:rPr>
              <a:t>AI INFRASTRUCTURE FOR RIDER AND PARCEL 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44752"/>
            <a:ext cx="5623560" cy="117043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2500" b="1">
                <a:solidFill>
                  <a:srgbClr val="14213D"/>
                </a:solidFill>
                <a:latin typeface="Space Grotesk"/>
              </a:rPr>
              <a:t>Automate {{primary_workflow}} for {{lead_company_name}}.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670048"/>
            <a:ext cx="5532120" cy="65836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40" b="0">
                <a:solidFill>
                  <a:srgbClr val="324463"/>
                </a:solidFill>
                <a:latin typeface="IBM Plex Sans"/>
              </a:rPr>
              <a:t>Prepared for {{prospect_name}} and the {{lead_company_name}} team. Fracto can verify rider onboarding documents, classify delivery images, and return parcel-proof decisions directly into ops workflows.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547872"/>
            <a:ext cx="498348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721608"/>
            <a:ext cx="4526280" cy="749808"/>
          </a:xfrm>
          <a:prstGeom prst="rect">
            <a:avLst/>
          </a:prstGeom>
          <a:noFill/>
        </p:spPr>
        <p:txBody>
          <a:bodyPr wrap="square" lIns="50800" rIns="50800" tIns="25400" bIns="25400">
            <a:normAutofit/>
          </a:bodyPr>
          <a:lstStyle/>
          <a:p>
            <a:pPr>
              <a:spcAft>
                <a:spcPts val="500"/>
              </a:spcAft>
            </a:pPr>
            <a:r>
              <a:rPr sz="960" b="0">
                <a:solidFill>
                  <a:srgbClr val="324463"/>
                </a:solidFill>
                <a:latin typeface="IBM Plex Sans"/>
              </a:rPr>
              <a:t>- Rider onboarding for Aadhaar, PAN, DL, and ID files</a:t>
            </a:r>
          </a:p>
          <a:p>
            <a:pPr>
              <a:spcAft>
                <a:spcPts val="500"/>
              </a:spcAft>
            </a:pPr>
            <a:r>
              <a:rPr sz="960" b="0">
                <a:solidFill>
                  <a:srgbClr val="324463"/>
                </a:solidFill>
                <a:latin typeface="IBM Plex Sans"/>
              </a:rPr>
              <a:t>- Parcel delivery image verification</a:t>
            </a:r>
          </a:p>
          <a:p>
            <a:pPr>
              <a:spcAft>
                <a:spcPts val="500"/>
              </a:spcAft>
            </a:pPr>
            <a:r>
              <a:rPr sz="960" b="0">
                <a:solidFill>
                  <a:srgbClr val="324463"/>
                </a:solidFill>
                <a:latin typeface="IBM Plex Sans"/>
              </a:rPr>
              <a:t>- POD, AWB, invoice, and manifest extraction</a:t>
            </a:r>
          </a:p>
          <a:p>
            <a:pPr>
              <a:spcAft>
                <a:spcPts val="500"/>
              </a:spcAft>
            </a:pPr>
            <a:r>
              <a:rPr sz="960" b="0">
                <a:solidFill>
                  <a:srgbClr val="324463"/>
                </a:solidFill>
                <a:latin typeface="IBM Plex Sans"/>
              </a:rPr>
              <a:t>- APIs for rider apps, seller portals, and ops queues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89204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4960620"/>
            <a:ext cx="1554480" cy="1645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850" b="1">
                <a:solidFill>
                  <a:srgbClr val="324463"/>
                </a:solidFill>
                <a:latin typeface="IBM Plex Sans"/>
              </a:rPr>
              <a:t>{{primary_workflow}}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41448" y="48920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7168" y="4960620"/>
            <a:ext cx="868680" cy="1645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850" b="1">
                <a:solidFill>
                  <a:srgbClr val="324463"/>
                </a:solidFill>
                <a:latin typeface="IBM Plex Sans"/>
              </a:rPr>
              <a:t>Rider KYC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7872" y="48920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3591" y="4960620"/>
            <a:ext cx="1005839" cy="1645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850" b="1">
                <a:solidFill>
                  <a:srgbClr val="324463"/>
                </a:solidFill>
                <a:latin typeface="IBM Plex Sans"/>
              </a:rPr>
              <a:t>Parcel proof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28523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5353812"/>
            <a:ext cx="868680" cy="1645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850" b="1">
                <a:solidFill>
                  <a:srgbClr val="324463"/>
                </a:solidFill>
                <a:latin typeface="IBM Plex Sans"/>
              </a:rPr>
              <a:t>POD / AWB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64792" y="5285232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10512" y="5353812"/>
            <a:ext cx="1463039" cy="1645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850" b="1">
                <a:solidFill>
                  <a:srgbClr val="324463"/>
                </a:solidFill>
                <a:latin typeface="IBM Plex Sans"/>
              </a:rPr>
              <a:t>For {{prospect_role}}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932688"/>
            <a:ext cx="3611880" cy="4315968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152144"/>
            <a:ext cx="2971800" cy="53035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450" b="1">
                <a:solidFill>
                  <a:srgbClr val="14213D"/>
                </a:solidFill>
                <a:latin typeface="IBM Plex Sans"/>
              </a:rPr>
              <a:t>What this changes for {{lead_company_name}}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47688" y="1847088"/>
            <a:ext cx="141732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84848" y="1993392"/>
            <a:ext cx="1143000" cy="49377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60" b="1">
                <a:solidFill>
                  <a:srgbClr val="0B6D60"/>
                </a:solidFill>
                <a:latin typeface="IBM Plex Sans"/>
              </a:rPr>
              <a:t>Rider ready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2542032"/>
            <a:ext cx="1143000" cy="40233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790" b="0">
                <a:solidFill>
                  <a:srgbClr val="324463"/>
                </a:solidFill>
                <a:latin typeface="IBM Plex Sans"/>
              </a:rPr>
              <a:t>KYC fields and onboarding documents become structured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75320" y="1847088"/>
            <a:ext cx="141732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1993392"/>
            <a:ext cx="1143000" cy="49377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60" b="1">
                <a:solidFill>
                  <a:srgbClr val="0B6D60"/>
                </a:solidFill>
                <a:latin typeface="IBM Plex Sans"/>
              </a:rPr>
              <a:t>Parcel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2542032"/>
            <a:ext cx="1143000" cy="40233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790" b="0">
                <a:solidFill>
                  <a:srgbClr val="324463"/>
                </a:solidFill>
                <a:latin typeface="IBM Plex Sans"/>
              </a:rPr>
              <a:t>Images return parcel, not parcel, or review decisions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47688" y="3200400"/>
            <a:ext cx="141732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84848" y="3346704"/>
            <a:ext cx="1143000" cy="49377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60" b="1">
                <a:solidFill>
                  <a:srgbClr val="0B6D60"/>
                </a:solidFill>
                <a:latin typeface="IBM Plex Sans"/>
              </a:rPr>
              <a:t>Docs ready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84848" y="3895344"/>
            <a:ext cx="1143000" cy="40233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790" b="0">
                <a:solidFill>
                  <a:srgbClr val="324463"/>
                </a:solidFill>
                <a:latin typeface="IBM Plex Sans"/>
              </a:rPr>
              <a:t>POD, AWB, invoice, and manifest extraction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75320" y="3200400"/>
            <a:ext cx="141732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3346704"/>
            <a:ext cx="1143000" cy="49377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60" b="1">
                <a:solidFill>
                  <a:srgbClr val="0B6D60"/>
                </a:solidFill>
                <a:latin typeface="IBM Plex Sans"/>
              </a:rPr>
              <a:t>Faster ops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3895344"/>
            <a:ext cx="1143000" cy="40233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790" b="0">
                <a:solidFill>
                  <a:srgbClr val="324463"/>
                </a:solidFill>
                <a:latin typeface="IBM Plex Sans"/>
              </a:rPr>
              <a:t>Exceptions route before customer or billing delays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46520" y="5303520"/>
            <a:ext cx="3566160" cy="1143000"/>
          </a:xfrm>
          <a:prstGeom prst="roundRect">
            <a:avLst>
              <a:gd name="adj" fmla="val 8000"/>
            </a:avLst>
          </a:prstGeom>
          <a:solidFill>
            <a:srgbClr val="15314D"/>
          </a:solidFill>
          <a:ln w="12700">
            <a:solidFill>
              <a:srgbClr val="1531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11112" y="5449824"/>
            <a:ext cx="3236976" cy="32004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pace Grotesk"/>
              </a:rPr>
              <a:t>Positioning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11112" y="5833872"/>
            <a:ext cx="3236976" cy="5029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20" b="0">
                <a:solidFill>
                  <a:srgbClr val="FFFFFF"/>
                </a:solidFill>
                <a:latin typeface="IBM Plex Sans"/>
              </a:rPr>
              <a:t>One verification layer for {{lead_company_name}} across rider documents and parcel proof.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ra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"/>
            <a:ext cx="658368" cy="2057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0" y="329184"/>
            <a:ext cx="1828800" cy="2286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r"/>
            <a:r>
              <a:rPr sz="830" b="1">
                <a:solidFill>
                  <a:srgbClr val="324463"/>
                </a:solidFill>
                <a:latin typeface="IBM Plex Sans"/>
              </a:rPr>
              <a:t>Reference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14032"/>
            <a:ext cx="2926080" cy="21945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850" b="0">
                <a:solidFill>
                  <a:srgbClr val="324463"/>
                </a:solidFill>
                <a:latin typeface="IBM Plex Sans"/>
              </a:rPr>
              <a:t>Prepared for {{lead_company_name}}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46920" y="7114032"/>
            <a:ext cx="502920" cy="21945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r"/>
            <a:r>
              <a:rPr sz="850" b="0">
                <a:solidFill>
                  <a:srgbClr val="324463"/>
                </a:solidFill>
                <a:latin typeface="IBM Plex Sans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914400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D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978408"/>
            <a:ext cx="1837943" cy="1828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840" b="1">
                <a:solidFill>
                  <a:srgbClr val="0B6D60"/>
                </a:solidFill>
                <a:latin typeface="IBM Plex Sans"/>
              </a:rPr>
              <a:t>DELIVERY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353312"/>
            <a:ext cx="5303520" cy="95097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2100" b="1">
                <a:solidFill>
                  <a:srgbClr val="14213D"/>
                </a:solidFill>
                <a:latin typeface="Space Grotesk"/>
              </a:rPr>
              <a:t>Fracto supports parcel, delivery, and e-commerce operations workflows.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359152"/>
            <a:ext cx="5166360" cy="38404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050" b="0">
                <a:solidFill>
                  <a:srgbClr val="324463"/>
                </a:solidFill>
                <a:latin typeface="IBM Plex Sans"/>
              </a:rPr>
              <a:t>For {{lead_company_name}}, the same layer can support rider onboarding, delivery image verification, shipment documents, and exception routing.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63240"/>
            <a:ext cx="5257800" cy="2331720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55264"/>
            <a:ext cx="3749039" cy="2286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340" b="1">
                <a:solidFill>
                  <a:srgbClr val="14213D"/>
                </a:solidFill>
                <a:latin typeface="IBM Plex Sans"/>
              </a:rPr>
              <a:t>Relevant delivery and e-commerce workflows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675887"/>
            <a:ext cx="1371600" cy="585216"/>
          </a:xfrm>
          <a:prstGeom prst="roundRect">
            <a:avLst>
              <a:gd name="adj" fmla="val 8000"/>
            </a:avLst>
          </a:prstGeom>
          <a:solidFill>
            <a:srgbClr val="15314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qwqer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7" y="3802075"/>
            <a:ext cx="1152144" cy="33284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496312" y="3675887"/>
            <a:ext cx="137160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arcel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040" y="3836822"/>
            <a:ext cx="1152144" cy="26334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123944" y="3675887"/>
            <a:ext cx="137160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jeeb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6544" y="3767327"/>
            <a:ext cx="406400" cy="402336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68680" y="4498848"/>
            <a:ext cx="137160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etstranspo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407" y="4665177"/>
            <a:ext cx="1152144" cy="252557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2496312" y="4498848"/>
            <a:ext cx="137160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leet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06040" y="4637836"/>
            <a:ext cx="1152144" cy="307238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4123944" y="4498848"/>
            <a:ext cx="137160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etpooj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33672" y="4686317"/>
            <a:ext cx="1152144" cy="210277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263640" y="1389888"/>
            <a:ext cx="3611880" cy="2029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1609344"/>
            <a:ext cx="3127248" cy="6217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520" b="1">
                <a:solidFill>
                  <a:srgbClr val="14213D"/>
                </a:solidFill>
                <a:latin typeface="IBM Plex Sans"/>
              </a:rPr>
              <a:t>Why this matters for {{lead_company_name}}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359152"/>
            <a:ext cx="3063240" cy="786384"/>
          </a:xfrm>
          <a:prstGeom prst="rect">
            <a:avLst/>
          </a:prstGeom>
          <a:noFill/>
        </p:spPr>
        <p:txBody>
          <a:bodyPr wrap="square" lIns="50800" rIns="50800" tIns="25400" bIns="25400">
            <a:normAutofit/>
          </a:bodyPr>
          <a:lstStyle/>
          <a:p>
            <a:pPr>
              <a:spcAft>
                <a:spcPts val="500"/>
              </a:spcAft>
            </a:pPr>
            <a:r>
              <a:rPr sz="890" b="0">
                <a:solidFill>
                  <a:srgbClr val="324463"/>
                </a:solidFill>
                <a:latin typeface="IBM Plex Sans"/>
              </a:rPr>
              <a:t>- High daily proof-image volume</a:t>
            </a:r>
          </a:p>
          <a:p>
            <a:pPr>
              <a:spcAft>
                <a:spcPts val="500"/>
              </a:spcAft>
            </a:pPr>
            <a:r>
              <a:rPr sz="890" b="0">
                <a:solidFill>
                  <a:srgbClr val="324463"/>
                </a:solidFill>
                <a:latin typeface="IBM Plex Sans"/>
              </a:rPr>
              <a:t>- Rider and seller uploads vary in quality</a:t>
            </a:r>
          </a:p>
          <a:p>
            <a:pPr>
              <a:spcAft>
                <a:spcPts val="500"/>
              </a:spcAft>
            </a:pPr>
            <a:r>
              <a:rPr sz="890" b="0">
                <a:solidFill>
                  <a:srgbClr val="324463"/>
                </a:solidFill>
                <a:latin typeface="IBM Plex Sans"/>
              </a:rPr>
              <a:t>- Parcel proof decisions need to be fast</a:t>
            </a:r>
          </a:p>
          <a:p>
            <a:pPr>
              <a:spcAft>
                <a:spcPts val="500"/>
              </a:spcAft>
            </a:pPr>
            <a:r>
              <a:rPr sz="890" b="0">
                <a:solidFill>
                  <a:srgbClr val="324463"/>
                </a:solidFill>
                <a:latin typeface="IBM Plex Sans"/>
              </a:rPr>
              <a:t>- Exceptions need quick routing to ops teams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730752"/>
            <a:ext cx="3611880" cy="1847088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3950208"/>
            <a:ext cx="3127248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580" b="1">
                <a:solidFill>
                  <a:srgbClr val="14213D"/>
                </a:solidFill>
                <a:latin typeface="IBM Plex Sans"/>
              </a:rPr>
              <a:t>What your team can expect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334256"/>
            <a:ext cx="3063240" cy="859536"/>
          </a:xfrm>
          <a:prstGeom prst="rect">
            <a:avLst/>
          </a:prstGeom>
          <a:noFill/>
        </p:spPr>
        <p:txBody>
          <a:bodyPr wrap="square" lIns="50800" rIns="50800" tIns="25400" bIns="25400">
            <a:normAutofit/>
          </a:bodyPr>
          <a:lstStyle/>
          <a:p>
            <a:pPr>
              <a:spcAft>
                <a:spcPts val="500"/>
              </a:spcAft>
            </a:pPr>
            <a:r>
              <a:rPr sz="980" b="0">
                <a:solidFill>
                  <a:srgbClr val="324463"/>
                </a:solidFill>
                <a:latin typeface="IBM Plex Sans"/>
              </a:rPr>
              <a:t>- Automated parcel / not-parcel flags</a:t>
            </a:r>
          </a:p>
          <a:p>
            <a:pPr>
              <a:spcAft>
                <a:spcPts val="500"/>
              </a:spcAft>
            </a:pPr>
            <a:r>
              <a:rPr sz="980" b="0">
                <a:solidFill>
                  <a:srgbClr val="324463"/>
                </a:solidFill>
                <a:latin typeface="IBM Plex Sans"/>
              </a:rPr>
              <a:t>- Cleaner rider onboarding records</a:t>
            </a:r>
          </a:p>
          <a:p>
            <a:pPr>
              <a:spcAft>
                <a:spcPts val="500"/>
              </a:spcAft>
            </a:pPr>
            <a:r>
              <a:rPr sz="980" b="0">
                <a:solidFill>
                  <a:srgbClr val="324463"/>
                </a:solidFill>
                <a:latin typeface="IBM Plex Sans"/>
              </a:rPr>
              <a:t>- Structured shipment document outputs</a:t>
            </a:r>
          </a:p>
          <a:p>
            <a:pPr>
              <a:spcAft>
                <a:spcPts val="500"/>
              </a:spcAft>
            </a:pPr>
            <a:r>
              <a:rPr sz="980" b="0">
                <a:solidFill>
                  <a:srgbClr val="324463"/>
                </a:solidFill>
                <a:latin typeface="IBM Plex Sans"/>
              </a:rPr>
              <a:t>- Lower manual review across ops queues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ra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"/>
            <a:ext cx="658368" cy="2057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0" y="329184"/>
            <a:ext cx="1828800" cy="2286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r"/>
            <a:r>
              <a:rPr sz="830" b="1">
                <a:solidFill>
                  <a:srgbClr val="324463"/>
                </a:solidFill>
                <a:latin typeface="IBM Plex Sans"/>
              </a:rPr>
              <a:t>Why Delivery Ops Break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14032"/>
            <a:ext cx="2926080" cy="21945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850" b="0">
                <a:solidFill>
                  <a:srgbClr val="324463"/>
                </a:solidFill>
                <a:latin typeface="IBM Plex Sans"/>
              </a:rPr>
              <a:t>Prepared for {{lead_company_name}}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46920" y="7114032"/>
            <a:ext cx="502920" cy="21945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r"/>
            <a:r>
              <a:rPr sz="850" b="0">
                <a:solidFill>
                  <a:srgbClr val="324463"/>
                </a:solidFill>
                <a:latin typeface="IBM Plex Sans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914400"/>
            <a:ext cx="2148840" cy="329184"/>
          </a:xfrm>
          <a:prstGeom prst="roundRect">
            <a:avLst>
              <a:gd name="adj" fmla="val 50000"/>
            </a:avLst>
          </a:prstGeom>
          <a:solidFill>
            <a:srgbClr val="D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978408"/>
            <a:ext cx="1929384" cy="1828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840" b="1">
                <a:solidFill>
                  <a:srgbClr val="0B6D60"/>
                </a:solidFill>
                <a:latin typeface="IBM Plex Sans"/>
              </a:rPr>
              <a:t>THE OPERATIONAL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353312"/>
            <a:ext cx="5623560" cy="89611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2050" b="1">
                <a:solidFill>
                  <a:srgbClr val="14213D"/>
                </a:solidFill>
                <a:latin typeface="Space Grotesk"/>
              </a:rPr>
              <a:t>Delivery teams move fast, but image proof and onboarding checks still get stuck in queues.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359152"/>
            <a:ext cx="5440680" cy="43891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060" b="0">
                <a:solidFill>
                  <a:srgbClr val="324463"/>
                </a:solidFill>
                <a:latin typeface="IBM Plex Sans"/>
              </a:rPr>
              <a:t>For {{lead_company_name}}, {{pain_point_1}}, {{pain_point_2}}, and {{pain_point_3}} can slow down {{primary_workflow}}.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999232"/>
            <a:ext cx="2331720" cy="1444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59" y="3145536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FFF1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195828"/>
            <a:ext cx="822960" cy="1645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780" b="1">
                <a:solidFill>
                  <a:srgbClr val="0B6D60"/>
                </a:solidFill>
                <a:latin typeface="IBM Plex Sans"/>
              </a:rPr>
              <a:t>Images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529584"/>
            <a:ext cx="2002536" cy="38404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20" b="1">
                <a:solidFill>
                  <a:srgbClr val="14213D"/>
                </a:solidFill>
                <a:latin typeface="IBM Plex Sans"/>
              </a:rPr>
              <a:t>Rider uploads are inconsistent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3968496"/>
            <a:ext cx="2002536" cy="40233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860" b="0">
                <a:solidFill>
                  <a:srgbClr val="324463"/>
                </a:solidFill>
                <a:latin typeface="IBM Plex Sans"/>
              </a:rPr>
              <a:t>Ops teams still check whether a photo actually shows a parcel.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2999232"/>
            <a:ext cx="2331720" cy="1444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10712" y="3145536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FFF1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6432" y="3195828"/>
            <a:ext cx="822960" cy="1645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780" b="1">
                <a:solidFill>
                  <a:srgbClr val="0B6D60"/>
                </a:solidFill>
                <a:latin typeface="IBM Plex Sans"/>
              </a:rPr>
              <a:t>KYC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0712" y="3529584"/>
            <a:ext cx="2002536" cy="38404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20" b="1">
                <a:solidFill>
                  <a:srgbClr val="14213D"/>
                </a:solidFill>
                <a:latin typeface="IBM Plex Sans"/>
              </a:rPr>
              <a:t>Rider onboarding needs cleanup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0712" y="3968496"/>
            <a:ext cx="2002536" cy="40233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860" b="0">
                <a:solidFill>
                  <a:srgbClr val="324463"/>
                </a:solidFill>
                <a:latin typeface="IBM Plex Sans"/>
              </a:rPr>
              <a:t>Aadhaar, PAN, DL, and ID uploads arrive blurred or incomplete.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663440"/>
            <a:ext cx="2331720" cy="1444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59" y="4809744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FFF1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860036"/>
            <a:ext cx="822960" cy="1645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780" b="1">
                <a:solidFill>
                  <a:srgbClr val="0B6D60"/>
                </a:solidFill>
                <a:latin typeface="IBM Plex Sans"/>
              </a:rPr>
              <a:t>Docs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5193792"/>
            <a:ext cx="2002536" cy="38404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20" b="1">
                <a:solidFill>
                  <a:srgbClr val="14213D"/>
                </a:solidFill>
                <a:latin typeface="IBM Plex Sans"/>
              </a:rPr>
              <a:t>Shipment files are copied manually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5632704"/>
            <a:ext cx="2002536" cy="40233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860" b="0">
                <a:solidFill>
                  <a:srgbClr val="324463"/>
                </a:solidFill>
                <a:latin typeface="IBM Plex Sans"/>
              </a:rPr>
              <a:t>POD, AWB, invoice, and manifest fields still move across tools by hand.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46120" y="4663440"/>
            <a:ext cx="2331720" cy="1444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410712" y="4809744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FFF1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56432" y="4860036"/>
            <a:ext cx="822960" cy="1645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780" b="1">
                <a:solidFill>
                  <a:srgbClr val="0B6D60"/>
                </a:solidFill>
                <a:latin typeface="IBM Plex Sans"/>
              </a:rPr>
              <a:t>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10712" y="5193792"/>
            <a:ext cx="2002536" cy="38404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20" b="1">
                <a:solidFill>
                  <a:srgbClr val="14213D"/>
                </a:solidFill>
                <a:latin typeface="IBM Plex Sans"/>
              </a:rPr>
              <a:t>Exceptions pile up quickly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0712" y="5632704"/>
            <a:ext cx="2002536" cy="40233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860" b="0">
                <a:solidFill>
                  <a:srgbClr val="324463"/>
                </a:solidFill>
                <a:latin typeface="IBM Plex Sans"/>
              </a:rPr>
              <a:t>Daily delivery spikes create review backlogs across hubs and ops teams.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1389888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3952" y="1627632"/>
            <a:ext cx="3127248" cy="30175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IBM Plex Sans"/>
              </a:rPr>
              <a:t>Typical failure pattern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2048256"/>
            <a:ext cx="3063240" cy="960120"/>
          </a:xfrm>
          <a:prstGeom prst="rect">
            <a:avLst/>
          </a:prstGeom>
          <a:noFill/>
        </p:spPr>
        <p:txBody>
          <a:bodyPr wrap="square" lIns="50800" rIns="50800" tIns="25400" bIns="25400">
            <a:normAutofit/>
          </a:bodyPr>
          <a:lstStyle/>
          <a:p>
            <a:pPr>
              <a:spcAft>
                <a:spcPts val="500"/>
              </a:spcAft>
            </a:pPr>
            <a:r>
              <a:rPr sz="960" b="0">
                <a:solidFill>
                  <a:srgbClr val="324463"/>
                </a:solidFill>
                <a:latin typeface="IBM Plex Sans"/>
              </a:rPr>
              <a:t>- Random, duplicate, blurry, or cropped delivery photos</a:t>
            </a:r>
          </a:p>
          <a:p>
            <a:pPr>
              <a:spcAft>
                <a:spcPts val="500"/>
              </a:spcAft>
            </a:pPr>
            <a:r>
              <a:rPr sz="960" b="0">
                <a:solidFill>
                  <a:srgbClr val="324463"/>
                </a:solidFill>
                <a:latin typeface="IBM Plex Sans"/>
              </a:rPr>
              <a:t>- Manual checks for package visibility and label presence</a:t>
            </a:r>
          </a:p>
          <a:p>
            <a:pPr>
              <a:spcAft>
                <a:spcPts val="500"/>
              </a:spcAft>
            </a:pPr>
            <a:r>
              <a:rPr sz="960" b="0">
                <a:solidFill>
                  <a:srgbClr val="324463"/>
                </a:solidFill>
                <a:latin typeface="IBM Plex Sans"/>
              </a:rPr>
              <a:t>- Rider KYC and shipment files reviewed in separate tools</a:t>
            </a:r>
          </a:p>
          <a:p>
            <a:pPr>
              <a:spcAft>
                <a:spcPts val="500"/>
              </a:spcAft>
            </a:pPr>
            <a:r>
              <a:rPr sz="960" b="0">
                <a:solidFill>
                  <a:srgbClr val="324463"/>
                </a:solidFill>
                <a:latin typeface="IBM Plex Sans"/>
              </a:rPr>
              <a:t>- Customer, billing, and claims teams wait on proof status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3749039"/>
            <a:ext cx="3611880" cy="1938528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3977639"/>
            <a:ext cx="3127248" cy="30175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IBM Plex Sans"/>
              </a:rPr>
              <a:t>What teams need instead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4389120"/>
            <a:ext cx="3063240" cy="914400"/>
          </a:xfrm>
          <a:prstGeom prst="rect">
            <a:avLst/>
          </a:prstGeom>
          <a:noFill/>
        </p:spPr>
        <p:txBody>
          <a:bodyPr wrap="square" lIns="50800" rIns="50800" tIns="25400" bIns="25400">
            <a:normAutofit/>
          </a:bodyPr>
          <a:lstStyle/>
          <a:p>
            <a:pPr>
              <a:spcAft>
                <a:spcPts val="500"/>
              </a:spcAft>
            </a:pPr>
            <a:r>
              <a:rPr sz="980" b="0">
                <a:solidFill>
                  <a:srgbClr val="324463"/>
                </a:solidFill>
                <a:latin typeface="IBM Plex Sans"/>
              </a:rPr>
              <a:t>- Automated valid or invalid parcel image decisions</a:t>
            </a:r>
          </a:p>
          <a:p>
            <a:pPr>
              <a:spcAft>
                <a:spcPts val="500"/>
              </a:spcAft>
            </a:pPr>
            <a:r>
              <a:rPr sz="980" b="0">
                <a:solidFill>
                  <a:srgbClr val="324463"/>
                </a:solidFill>
                <a:latin typeface="IBM Plex Sans"/>
              </a:rPr>
              <a:t>- Extraction for onboarding and shipment documents</a:t>
            </a:r>
          </a:p>
          <a:p>
            <a:pPr>
              <a:spcAft>
                <a:spcPts val="500"/>
              </a:spcAft>
            </a:pPr>
            <a:r>
              <a:rPr sz="980" b="0">
                <a:solidFill>
                  <a:srgbClr val="324463"/>
                </a:solidFill>
                <a:latin typeface="IBM Plex Sans"/>
              </a:rPr>
              <a:t>- Review only uncertain cases</a:t>
            </a:r>
          </a:p>
          <a:p>
            <a:pPr>
              <a:spcAft>
                <a:spcPts val="500"/>
              </a:spcAft>
            </a:pPr>
            <a:r>
              <a:rPr sz="980" b="0">
                <a:solidFill>
                  <a:srgbClr val="324463"/>
                </a:solidFill>
                <a:latin typeface="IBM Plex Sans"/>
              </a:rPr>
              <a:t>- API outputs for rider apps and ops tools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ra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"/>
            <a:ext cx="658368" cy="2057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0" y="329184"/>
            <a:ext cx="1828800" cy="2286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r"/>
            <a:r>
              <a:rPr sz="830" b="1">
                <a:solidFill>
                  <a:srgbClr val="324463"/>
                </a:solidFill>
                <a:latin typeface="IBM Plex Sans"/>
              </a:rPr>
              <a:t>Rider 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14032"/>
            <a:ext cx="2926080" cy="21945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850" b="0">
                <a:solidFill>
                  <a:srgbClr val="324463"/>
                </a:solidFill>
                <a:latin typeface="IBM Plex Sans"/>
              </a:rPr>
              <a:t>Prepared for {{lead_company_name}}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46920" y="7114032"/>
            <a:ext cx="502920" cy="21945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r"/>
            <a:r>
              <a:rPr sz="850" b="0">
                <a:solidFill>
                  <a:srgbClr val="324463"/>
                </a:solidFill>
                <a:latin typeface="IBM Plex Sans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914400"/>
            <a:ext cx="2697480" cy="329184"/>
          </a:xfrm>
          <a:prstGeom prst="roundRect">
            <a:avLst>
              <a:gd name="adj" fmla="val 50000"/>
            </a:avLst>
          </a:prstGeom>
          <a:solidFill>
            <a:srgbClr val="D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978408"/>
            <a:ext cx="2478024" cy="1828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840" b="1">
                <a:solidFill>
                  <a:srgbClr val="0B6D60"/>
                </a:solidFill>
                <a:latin typeface="IBM Plex Sans"/>
              </a:rPr>
              <a:t>RIDER KYC + VEHICLE CHECKS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335024"/>
            <a:ext cx="8138160" cy="56692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939" b="1">
                <a:solidFill>
                  <a:srgbClr val="14213D"/>
                </a:solidFill>
                <a:latin typeface="Space Grotesk"/>
              </a:rPr>
              <a:t>Rider onboarding: verify identity, documents, and vehicle before first delivery.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965960"/>
            <a:ext cx="790956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980" b="0">
                <a:solidFill>
                  <a:srgbClr val="324463"/>
                </a:solidFill>
                <a:latin typeface="IBM Plex Sans"/>
              </a:rPr>
              <a:t>The same Fracto layer can parse rider files, mask Aadhaar, validate DL/RC data, and return a clean onboarding decision.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487168"/>
            <a:ext cx="4526280" cy="38587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697480"/>
            <a:ext cx="3246120" cy="2286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380" b="1">
                <a:solidFill>
                  <a:srgbClr val="14213D"/>
                </a:solidFill>
                <a:latin typeface="IBM Plex Sans"/>
              </a:rPr>
              <a:t>Sample onboarding uploads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127248"/>
            <a:ext cx="1965960" cy="1965960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14983" y="3255264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FFF1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305556"/>
            <a:ext cx="566928" cy="1645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780" b="1">
                <a:solidFill>
                  <a:srgbClr val="0B6D60"/>
                </a:solidFill>
                <a:latin typeface="IBM Plex Sans"/>
              </a:rPr>
              <a:t>KYC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3264408"/>
            <a:ext cx="923544" cy="20116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40" b="1">
                <a:solidFill>
                  <a:srgbClr val="14213D"/>
                </a:solidFill>
                <a:latin typeface="IBM Plex Sans"/>
              </a:rPr>
              <a:t>Aadhaar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3" y="3575304"/>
            <a:ext cx="1673351" cy="1828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720" b="0">
                <a:solidFill>
                  <a:srgbClr val="324463"/>
                </a:solidFill>
                <a:latin typeface="IBM Plex Sans"/>
              </a:rPr>
              <a:t>Masked identity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877056"/>
            <a:ext cx="676656" cy="1645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540" b="1">
                <a:solidFill>
                  <a:srgbClr val="324463"/>
                </a:solidFill>
                <a:latin typeface="IBM Plex Sans"/>
              </a:rPr>
              <a:t>NAME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64792" y="3867912"/>
            <a:ext cx="886968" cy="1828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750" b="1">
                <a:solidFill>
                  <a:srgbClr val="14213D"/>
                </a:solidFill>
                <a:latin typeface="IBM Plex Sans"/>
              </a:rPr>
              <a:t>RAVI KUMAR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151376"/>
            <a:ext cx="676656" cy="1645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540" b="1">
                <a:solidFill>
                  <a:srgbClr val="324463"/>
                </a:solidFill>
                <a:latin typeface="IBM Plex Sans"/>
              </a:rPr>
              <a:t>AADHAAR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142232"/>
            <a:ext cx="886968" cy="1828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750" b="1">
                <a:solidFill>
                  <a:srgbClr val="14213D"/>
                </a:solidFill>
                <a:latin typeface="IBM Plex Sans"/>
              </a:rPr>
              <a:t>XXXX XXXX 4321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425696"/>
            <a:ext cx="676656" cy="1645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540" b="1">
                <a:solidFill>
                  <a:srgbClr val="324463"/>
                </a:solidFill>
                <a:latin typeface="IBM Plex Sans"/>
              </a:rPr>
              <a:t>DOB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64792" y="4416552"/>
            <a:ext cx="886968" cy="1828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750" b="1">
                <a:solidFill>
                  <a:srgbClr val="14213D"/>
                </a:solidFill>
                <a:latin typeface="IBM Plex Sans"/>
              </a:rPr>
              <a:t>19XX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700016"/>
            <a:ext cx="676656" cy="1645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540" b="1">
                <a:solidFill>
                  <a:srgbClr val="324463"/>
                </a:solidFill>
                <a:latin typeface="IBM Plex Sans"/>
              </a:rPr>
              <a:t>ADDRESS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4792" y="4690872"/>
            <a:ext cx="886968" cy="1828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750" b="1">
                <a:solidFill>
                  <a:srgbClr val="14213D"/>
                </a:solidFill>
                <a:latin typeface="IBM Plex Sans"/>
              </a:rPr>
              <a:t>Bengaluru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71800" y="3127248"/>
            <a:ext cx="19659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118104" y="3255264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FFF1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63824" y="3305556"/>
            <a:ext cx="566928" cy="1645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780" b="1">
                <a:solidFill>
                  <a:srgbClr val="0B6D60"/>
                </a:solidFill>
                <a:latin typeface="IBM Plex Sans"/>
              </a:rPr>
              <a:t>PAN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7912" y="3264408"/>
            <a:ext cx="923544" cy="20116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40" b="1">
                <a:solidFill>
                  <a:srgbClr val="14213D"/>
                </a:solidFill>
                <a:latin typeface="IBM Plex Sans"/>
              </a:rPr>
              <a:t>PAN Card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18104" y="3575304"/>
            <a:ext cx="1673351" cy="1828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720" b="0">
                <a:solidFill>
                  <a:srgbClr val="324463"/>
                </a:solidFill>
                <a:latin typeface="IBM Plex Sans"/>
              </a:rPr>
              <a:t>Tax ID image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54680" y="3877056"/>
            <a:ext cx="676656" cy="1645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540" b="1">
                <a:solidFill>
                  <a:srgbClr val="324463"/>
                </a:solidFill>
                <a:latin typeface="IBM Plex Sans"/>
              </a:rPr>
              <a:t>NAME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67912" y="3867912"/>
            <a:ext cx="886968" cy="1828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750" b="1">
                <a:solidFill>
                  <a:srgbClr val="14213D"/>
                </a:solidFill>
                <a:latin typeface="IBM Plex Sans"/>
              </a:rPr>
              <a:t>RAVI KUMAR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54680" y="4151376"/>
            <a:ext cx="676656" cy="1645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540" b="1">
                <a:solidFill>
                  <a:srgbClr val="324463"/>
                </a:solidFill>
                <a:latin typeface="IBM Plex Sans"/>
              </a:rPr>
              <a:t>PAN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67912" y="4142232"/>
            <a:ext cx="886968" cy="1828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750" b="1">
                <a:solidFill>
                  <a:srgbClr val="14213D"/>
                </a:solidFill>
                <a:latin typeface="IBM Plex Sans"/>
              </a:rPr>
              <a:t>ABCDE1234F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4425696"/>
            <a:ext cx="676656" cy="1645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540" b="1">
                <a:solidFill>
                  <a:srgbClr val="324463"/>
                </a:solidFill>
                <a:latin typeface="IBM Plex Sans"/>
              </a:rPr>
              <a:t>STATUS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67912" y="4416552"/>
            <a:ext cx="886968" cy="1828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750" b="1">
                <a:solidFill>
                  <a:srgbClr val="14213D"/>
                </a:solidFill>
                <a:latin typeface="IBM Plex Sans"/>
              </a:rPr>
              <a:t>Name match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54680" y="4700016"/>
            <a:ext cx="676656" cy="1645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540" b="1">
                <a:solidFill>
                  <a:srgbClr val="324463"/>
                </a:solidFill>
                <a:latin typeface="IBM Plex Sans"/>
              </a:rPr>
              <a:t>DOB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67912" y="4690872"/>
            <a:ext cx="886968" cy="1828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750" b="1">
                <a:solidFill>
                  <a:srgbClr val="14213D"/>
                </a:solidFill>
                <a:latin typeface="IBM Plex Sans"/>
              </a:rPr>
              <a:t>19XX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8680" y="5376672"/>
            <a:ext cx="4069080" cy="603504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2415" y="5532120"/>
            <a:ext cx="1298448" cy="1645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860" b="1">
                <a:solidFill>
                  <a:srgbClr val="0B6D60"/>
                </a:solidFill>
                <a:latin typeface="IBM Plex Sans"/>
              </a:rPr>
              <a:t>Verification inputs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67712" y="5532120"/>
            <a:ext cx="2468880" cy="1645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740" b="0">
                <a:solidFill>
                  <a:srgbClr val="324463"/>
                </a:solidFill>
                <a:latin typeface="IBM Plex Sans"/>
              </a:rPr>
              <a:t>DL: KA05 20XX 1234567 | RC: KA-05-AB-1234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40680" y="2487168"/>
            <a:ext cx="2057400" cy="1901952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32704" y="2706624"/>
            <a:ext cx="1627632" cy="2286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320" b="1">
                <a:solidFill>
                  <a:srgbClr val="14213D"/>
                </a:solidFill>
                <a:latin typeface="IBM Plex Sans"/>
              </a:rPr>
              <a:t>Extracted data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50992" y="3072384"/>
            <a:ext cx="1600200" cy="987552"/>
          </a:xfrm>
          <a:prstGeom prst="rect">
            <a:avLst/>
          </a:prstGeom>
          <a:noFill/>
        </p:spPr>
        <p:txBody>
          <a:bodyPr wrap="square" lIns="50800" rIns="50800" tIns="25400" bIns="25400">
            <a:normAutofit/>
          </a:bodyPr>
          <a:lstStyle/>
          <a:p>
            <a:pPr>
              <a:spcAft>
                <a:spcPts val="500"/>
              </a:spcAft>
            </a:pPr>
            <a:r>
              <a:rPr sz="740" b="0">
                <a:solidFill>
                  <a:srgbClr val="324463"/>
                </a:solidFill>
                <a:latin typeface="IBM Plex Sans"/>
              </a:rPr>
              <a:t>rider_name: Ravi Kumar</a:t>
            </a:r>
          </a:p>
          <a:p>
            <a:pPr>
              <a:spcAft>
                <a:spcPts val="500"/>
              </a:spcAft>
            </a:pPr>
            <a:r>
              <a:rPr sz="740" b="0">
                <a:solidFill>
                  <a:srgbClr val="324463"/>
                </a:solidFill>
                <a:latin typeface="IBM Plex Sans"/>
              </a:rPr>
              <a:t>aadhaar: XXXX-XXXX-4321</a:t>
            </a:r>
          </a:p>
          <a:p>
            <a:pPr>
              <a:spcAft>
                <a:spcPts val="500"/>
              </a:spcAft>
            </a:pPr>
            <a:r>
              <a:rPr sz="740" b="0">
                <a:solidFill>
                  <a:srgbClr val="324463"/>
                </a:solidFill>
                <a:latin typeface="IBM Plex Sans"/>
              </a:rPr>
              <a:t>pan: ABCDE1234F</a:t>
            </a:r>
          </a:p>
          <a:p>
            <a:pPr>
              <a:spcAft>
                <a:spcPts val="500"/>
              </a:spcAft>
            </a:pPr>
            <a:r>
              <a:rPr sz="740" b="0">
                <a:solidFill>
                  <a:srgbClr val="324463"/>
                </a:solidFill>
                <a:latin typeface="IBM Plex Sans"/>
              </a:rPr>
              <a:t>dl_no: KA05 20XX 1234567</a:t>
            </a:r>
          </a:p>
          <a:p>
            <a:pPr>
              <a:spcAft>
                <a:spcPts val="500"/>
              </a:spcAft>
            </a:pPr>
            <a:r>
              <a:rPr sz="740" b="0">
                <a:solidFill>
                  <a:srgbClr val="324463"/>
                </a:solidFill>
                <a:latin typeface="IBM Plex Sans"/>
              </a:rPr>
              <a:t>rc_no: KA-05-AB-1234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699248" y="2487168"/>
            <a:ext cx="2057400" cy="19019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91272" y="2706624"/>
            <a:ext cx="1572768" cy="2286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320" b="1">
                <a:solidFill>
                  <a:srgbClr val="14213D"/>
                </a:solidFill>
                <a:latin typeface="IBM Plex Sans"/>
              </a:rPr>
              <a:t>Fracto signals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09560" y="3072384"/>
            <a:ext cx="1572768" cy="987552"/>
          </a:xfrm>
          <a:prstGeom prst="rect">
            <a:avLst/>
          </a:prstGeom>
          <a:noFill/>
        </p:spPr>
        <p:txBody>
          <a:bodyPr wrap="square" lIns="50800" rIns="50800" tIns="25400" bIns="25400">
            <a:normAutofit/>
          </a:bodyPr>
          <a:lstStyle/>
          <a:p>
            <a:pPr>
              <a:spcAft>
                <a:spcPts val="500"/>
              </a:spcAft>
            </a:pPr>
            <a:r>
              <a:rPr sz="740" b="0">
                <a:solidFill>
                  <a:srgbClr val="324463"/>
                </a:solidFill>
                <a:latin typeface="IBM Plex Sans"/>
              </a:rPr>
              <a:t>aadhaar_masked: true</a:t>
            </a:r>
          </a:p>
          <a:p>
            <a:pPr>
              <a:spcAft>
                <a:spcPts val="500"/>
              </a:spcAft>
            </a:pPr>
            <a:r>
              <a:rPr sz="740" b="0">
                <a:solidFill>
                  <a:srgbClr val="324463"/>
                </a:solidFill>
                <a:latin typeface="IBM Plex Sans"/>
              </a:rPr>
              <a:t>pan_name_match: true</a:t>
            </a:r>
          </a:p>
          <a:p>
            <a:pPr>
              <a:spcAft>
                <a:spcPts val="500"/>
              </a:spcAft>
            </a:pPr>
            <a:r>
              <a:rPr sz="740" b="0">
                <a:solidFill>
                  <a:srgbClr val="324463"/>
                </a:solidFill>
                <a:latin typeface="IBM Plex Sans"/>
              </a:rPr>
              <a:t>dl_status: active</a:t>
            </a:r>
          </a:p>
          <a:p>
            <a:pPr>
              <a:spcAft>
                <a:spcPts val="500"/>
              </a:spcAft>
            </a:pPr>
            <a:r>
              <a:rPr sz="740" b="0">
                <a:solidFill>
                  <a:srgbClr val="324463"/>
                </a:solidFill>
                <a:latin typeface="IBM Plex Sans"/>
              </a:rPr>
              <a:t>rc_status: verified</a:t>
            </a:r>
          </a:p>
          <a:p>
            <a:pPr>
              <a:spcAft>
                <a:spcPts val="500"/>
              </a:spcAft>
            </a:pPr>
            <a:r>
              <a:rPr sz="740" b="0">
                <a:solidFill>
                  <a:srgbClr val="324463"/>
                </a:solidFill>
                <a:latin typeface="IBM Plex Sans"/>
              </a:rPr>
              <a:t>route_to: {{downstream_system}}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40680" y="4645152"/>
            <a:ext cx="2057400" cy="1417320"/>
          </a:xfrm>
          <a:prstGeom prst="roundRect">
            <a:avLst>
              <a:gd name="adj" fmla="val 8000"/>
            </a:avLst>
          </a:prstGeom>
          <a:solidFill>
            <a:srgbClr val="15314D"/>
          </a:solidFill>
          <a:ln w="12700">
            <a:solidFill>
              <a:srgbClr val="1531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05272" y="4782312"/>
            <a:ext cx="1728216" cy="1828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980" b="1">
                <a:solidFill>
                  <a:srgbClr val="FFFFFF"/>
                </a:solidFill>
                <a:latin typeface="IBM Plex Sans"/>
              </a:rPr>
              <a:t>Parivahan DL API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05272" y="5056632"/>
            <a:ext cx="1728216" cy="923544"/>
          </a:xfrm>
          <a:prstGeom prst="rect">
            <a:avLst/>
          </a:prstGeom>
          <a:noFill/>
        </p:spPr>
        <p:txBody>
          <a:bodyPr wrap="square" lIns="50800" rIns="50800" tIns="25400" bIns="25400">
            <a:normAutofit/>
          </a:bodyPr>
          <a:lstStyle/>
          <a:p>
            <a:pPr>
              <a:spcAft>
                <a:spcPts val="500"/>
              </a:spcAft>
            </a:pPr>
            <a:r>
              <a:rPr sz="700" b="0">
                <a:solidFill>
                  <a:srgbClr val="FFFFFF"/>
                </a:solidFill>
                <a:latin typeface="IBM Plex Sans"/>
              </a:rPr>
              <a:t>status: active</a:t>
            </a:r>
          </a:p>
          <a:p>
            <a:pPr>
              <a:spcAft>
                <a:spcPts val="500"/>
              </a:spcAft>
            </a:pPr>
            <a:r>
              <a:rPr sz="700" b="0">
                <a:solidFill>
                  <a:srgbClr val="FFFFFF"/>
                </a:solidFill>
                <a:latin typeface="IBM Plex Sans"/>
              </a:rPr>
              <a:t>holder_match: true</a:t>
            </a:r>
          </a:p>
          <a:p>
            <a:pPr>
              <a:spcAft>
                <a:spcPts val="500"/>
              </a:spcAft>
            </a:pPr>
            <a:r>
              <a:rPr sz="700" b="0">
                <a:solidFill>
                  <a:srgbClr val="FFFFFF"/>
                </a:solidFill>
                <a:latin typeface="IBM Plex Sans"/>
              </a:rPr>
              <a:t>vehicle_class: 2W/LMV</a:t>
            </a:r>
          </a:p>
          <a:p>
            <a:pPr>
              <a:spcAft>
                <a:spcPts val="500"/>
              </a:spcAft>
            </a:pPr>
            <a:r>
              <a:rPr sz="700" b="0">
                <a:solidFill>
                  <a:srgbClr val="FFFFFF"/>
                </a:solidFill>
                <a:latin typeface="IBM Plex Sans"/>
              </a:rPr>
              <a:t>valid_till: 2028-12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699248" y="4645152"/>
            <a:ext cx="2057400" cy="1417320"/>
          </a:xfrm>
          <a:prstGeom prst="roundRect">
            <a:avLst>
              <a:gd name="adj" fmla="val 8000"/>
            </a:avLst>
          </a:prstGeom>
          <a:solidFill>
            <a:srgbClr val="15314D"/>
          </a:solidFill>
          <a:ln w="12700">
            <a:solidFill>
              <a:srgbClr val="1531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0" y="4782312"/>
            <a:ext cx="1728216" cy="1828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980" b="1">
                <a:solidFill>
                  <a:srgbClr val="FFFFFF"/>
                </a:solidFill>
                <a:latin typeface="IBM Plex Sans"/>
              </a:rPr>
              <a:t>Parivahan RC API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5056632"/>
            <a:ext cx="1728216" cy="923544"/>
          </a:xfrm>
          <a:prstGeom prst="rect">
            <a:avLst/>
          </a:prstGeom>
          <a:noFill/>
        </p:spPr>
        <p:txBody>
          <a:bodyPr wrap="square" lIns="50800" rIns="50800" tIns="25400" bIns="25400">
            <a:normAutofit/>
          </a:bodyPr>
          <a:lstStyle/>
          <a:p>
            <a:pPr>
              <a:spcAft>
                <a:spcPts val="500"/>
              </a:spcAft>
            </a:pPr>
            <a:r>
              <a:rPr sz="700" b="0">
                <a:solidFill>
                  <a:srgbClr val="FFFFFF"/>
                </a:solidFill>
                <a:latin typeface="IBM Plex Sans"/>
              </a:rPr>
              <a:t>status: verified</a:t>
            </a:r>
          </a:p>
          <a:p>
            <a:pPr>
              <a:spcAft>
                <a:spcPts val="500"/>
              </a:spcAft>
            </a:pPr>
            <a:r>
              <a:rPr sz="700" b="0">
                <a:solidFill>
                  <a:srgbClr val="FFFFFF"/>
                </a:solidFill>
                <a:latin typeface="IBM Plex Sans"/>
              </a:rPr>
              <a:t>owner_match: true</a:t>
            </a:r>
          </a:p>
          <a:p>
            <a:pPr>
              <a:spcAft>
                <a:spcPts val="500"/>
              </a:spcAft>
            </a:pPr>
            <a:r>
              <a:rPr sz="700" b="0">
                <a:solidFill>
                  <a:srgbClr val="FFFFFF"/>
                </a:solidFill>
                <a:latin typeface="IBM Plex Sans"/>
              </a:rPr>
              <a:t>fitness: active</a:t>
            </a:r>
          </a:p>
          <a:p>
            <a:pPr>
              <a:spcAft>
                <a:spcPts val="500"/>
              </a:spcAft>
            </a:pPr>
            <a:r>
              <a:rPr sz="700" b="0">
                <a:solidFill>
                  <a:srgbClr val="FFFFFF"/>
                </a:solidFill>
                <a:latin typeface="IBM Plex Sans"/>
              </a:rPr>
              <a:t>insurance: valid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ra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"/>
            <a:ext cx="658368" cy="2057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0" y="329184"/>
            <a:ext cx="1828800" cy="2286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r"/>
            <a:r>
              <a:rPr sz="830" b="1">
                <a:solidFill>
                  <a:srgbClr val="324463"/>
                </a:solidFill>
                <a:latin typeface="IBM Plex Sans"/>
              </a:rPr>
              <a:t>Visual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14032"/>
            <a:ext cx="2926080" cy="21945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850" b="0">
                <a:solidFill>
                  <a:srgbClr val="324463"/>
                </a:solidFill>
                <a:latin typeface="IBM Plex Sans"/>
              </a:rPr>
              <a:t>Prepared for {{lead_company_name}}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46920" y="7114032"/>
            <a:ext cx="502920" cy="21945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r"/>
            <a:r>
              <a:rPr sz="850" b="0">
                <a:solidFill>
                  <a:srgbClr val="324463"/>
                </a:solidFill>
                <a:latin typeface="IBM Plex Sans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9144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D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978408"/>
            <a:ext cx="2112263" cy="1828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840" b="1">
                <a:solidFill>
                  <a:srgbClr val="0B6D60"/>
                </a:solidFill>
                <a:latin typeface="IBM Plex Sans"/>
              </a:rPr>
              <a:t>PARCEL IMAGE + DECISION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335024"/>
            <a:ext cx="8183879" cy="56692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939" b="1">
                <a:solidFill>
                  <a:srgbClr val="14213D"/>
                </a:solidFill>
                <a:latin typeface="Space Grotesk"/>
              </a:rPr>
              <a:t>Qwqer use case: confirm whether a parcel is visible in the delivery image.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965960"/>
            <a:ext cx="800100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980" b="0">
                <a:solidFill>
                  <a:srgbClr val="324463"/>
                </a:solidFill>
                <a:latin typeface="IBM Plex Sans"/>
              </a:rPr>
              <a:t>Fracto reads the rider-uploaded image and returns a simple decision that can move directly into the delivery workflow.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487168"/>
            <a:ext cx="370332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697480"/>
            <a:ext cx="3063240" cy="2286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380" b="1">
                <a:solidFill>
                  <a:srgbClr val="14213D"/>
                </a:solidFill>
                <a:latin typeface="IBM Plex Sans"/>
              </a:rPr>
              <a:t>Rider delivery image</a:t>
            </a:r>
          </a:p>
        </p:txBody>
      </p:sp>
      <p:pic>
        <p:nvPicPr>
          <p:cNvPr id="12" name="Picture 11" descr="quick-commerce-qwqer-parcel-visib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586" y="2999232"/>
            <a:ext cx="2283738" cy="2971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089904"/>
            <a:ext cx="3108960" cy="1645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780" b="0">
                <a:solidFill>
                  <a:srgbClr val="324463"/>
                </a:solidFill>
                <a:latin typeface="IBM Plex Sans"/>
              </a:rPr>
              <a:t>Parcel and shipping label are visible in the uploaded proof image.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2487168"/>
            <a:ext cx="5212080" cy="1901952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4608" y="2706624"/>
            <a:ext cx="420624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520" b="1">
                <a:solidFill>
                  <a:srgbClr val="14213D"/>
                </a:solidFill>
                <a:latin typeface="IBM Plex Sans"/>
              </a:rPr>
              <a:t>Extracted fields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64608" y="3108960"/>
            <a:ext cx="169164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3255264"/>
            <a:ext cx="1362456" cy="20116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819" b="1">
                <a:solidFill>
                  <a:srgbClr val="0B6D60"/>
                </a:solidFill>
                <a:latin typeface="IBM Plex Sans"/>
              </a:rPr>
              <a:t>Is Parcel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547872"/>
            <a:ext cx="1362456" cy="21945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919" b="0">
                <a:solidFill>
                  <a:srgbClr val="324463"/>
                </a:solidFill>
                <a:latin typeface="IBM Plex Sans"/>
              </a:rPr>
              <a:t>true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48272" y="3108960"/>
            <a:ext cx="274320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12864" y="3255264"/>
            <a:ext cx="2414016" cy="20116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819" b="1">
                <a:solidFill>
                  <a:srgbClr val="0B6D60"/>
                </a:solidFill>
                <a:latin typeface="IBM Plex Sans"/>
              </a:rPr>
              <a:t>Description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12864" y="3547872"/>
            <a:ext cx="2414016" cy="21945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919" b="0">
                <a:solidFill>
                  <a:srgbClr val="324463"/>
                </a:solidFill>
                <a:latin typeface="IBM Plex Sans"/>
              </a:rPr>
              <a:t>Brown package with shipping label and branded tape.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4617720"/>
            <a:ext cx="2468880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28032" y="4818888"/>
            <a:ext cx="201168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420" b="1">
                <a:solidFill>
                  <a:srgbClr val="14213D"/>
                </a:solidFill>
                <a:latin typeface="IBM Plex Sans"/>
              </a:rPr>
              <a:t>Delivery decision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5175504"/>
            <a:ext cx="1874519" cy="640080"/>
          </a:xfrm>
          <a:prstGeom prst="rect">
            <a:avLst/>
          </a:prstGeom>
          <a:noFill/>
        </p:spPr>
        <p:txBody>
          <a:bodyPr wrap="square" lIns="50800" rIns="50800" tIns="25400" bIns="25400">
            <a:normAutofit/>
          </a:bodyPr>
          <a:lstStyle/>
          <a:p>
            <a:pPr>
              <a:spcAft>
                <a:spcPts val="500"/>
              </a:spcAft>
            </a:pPr>
            <a:r>
              <a:rPr sz="819" b="0">
                <a:solidFill>
                  <a:srgbClr val="324463"/>
                </a:solidFill>
                <a:latin typeface="IBM Plex Sans"/>
              </a:rPr>
              <a:t>parcel_visible: true</a:t>
            </a:r>
          </a:p>
          <a:p>
            <a:pPr>
              <a:spcAft>
                <a:spcPts val="500"/>
              </a:spcAft>
            </a:pPr>
            <a:r>
              <a:rPr sz="819" b="0">
                <a:solidFill>
                  <a:srgbClr val="324463"/>
                </a:solidFill>
                <a:latin typeface="IBM Plex Sans"/>
              </a:rPr>
              <a:t>proof_status: accept</a:t>
            </a:r>
          </a:p>
          <a:p>
            <a:pPr>
              <a:spcAft>
                <a:spcPts val="500"/>
              </a:spcAft>
            </a:pPr>
            <a:r>
              <a:rPr sz="819" b="0">
                <a:solidFill>
                  <a:srgbClr val="324463"/>
                </a:solidFill>
                <a:latin typeface="IBM Plex Sans"/>
              </a:rPr>
              <a:t>review_required: false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60920" y="4617720"/>
            <a:ext cx="2468880" cy="1481328"/>
          </a:xfrm>
          <a:prstGeom prst="roundRect">
            <a:avLst>
              <a:gd name="adj" fmla="val 8000"/>
            </a:avLst>
          </a:prstGeom>
          <a:solidFill>
            <a:srgbClr val="15314D"/>
          </a:solidFill>
          <a:ln w="12700">
            <a:solidFill>
              <a:srgbClr val="1531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25512" y="4754880"/>
            <a:ext cx="2139696" cy="1828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980" b="1">
                <a:solidFill>
                  <a:srgbClr val="FFFFFF"/>
                </a:solidFill>
                <a:latin typeface="IBM Plex Sans"/>
              </a:rPr>
              <a:t>Ops Callback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25512" y="5029200"/>
            <a:ext cx="2139696" cy="987552"/>
          </a:xfrm>
          <a:prstGeom prst="rect">
            <a:avLst/>
          </a:prstGeom>
          <a:noFill/>
        </p:spPr>
        <p:txBody>
          <a:bodyPr wrap="square" lIns="50800" rIns="50800" tIns="25400" bIns="25400">
            <a:normAutofit/>
          </a:bodyPr>
          <a:lstStyle/>
          <a:p>
            <a:pPr>
              <a:spcAft>
                <a:spcPts val="500"/>
              </a:spcAft>
            </a:pPr>
            <a:r>
              <a:rPr sz="700" b="0">
                <a:solidFill>
                  <a:srgbClr val="FFFFFF"/>
                </a:solidFill>
                <a:latin typeface="IBM Plex Sans"/>
              </a:rPr>
              <a:t>order_id: {{order_id}}</a:t>
            </a:r>
          </a:p>
          <a:p>
            <a:pPr>
              <a:spcAft>
                <a:spcPts val="500"/>
              </a:spcAft>
            </a:pPr>
            <a:r>
              <a:rPr sz="700" b="0">
                <a:solidFill>
                  <a:srgbClr val="FFFFFF"/>
                </a:solidFill>
                <a:latin typeface="IBM Plex Sans"/>
              </a:rPr>
              <a:t>image_type: parcel</a:t>
            </a:r>
          </a:p>
          <a:p>
            <a:pPr>
              <a:spcAft>
                <a:spcPts val="500"/>
              </a:spcAft>
            </a:pPr>
            <a:r>
              <a:rPr sz="700" b="0">
                <a:solidFill>
                  <a:srgbClr val="FFFFFF"/>
                </a:solidFill>
                <a:latin typeface="IBM Plex Sans"/>
              </a:rPr>
              <a:t>route_to: {{downstream_system}}</a:t>
            </a:r>
          </a:p>
          <a:p>
            <a:pPr>
              <a:spcAft>
                <a:spcPts val="500"/>
              </a:spcAft>
            </a:pPr>
            <a:r>
              <a:rPr sz="700" b="0">
                <a:solidFill>
                  <a:srgbClr val="FFFFFF"/>
                </a:solidFill>
                <a:latin typeface="IBM Plex Sans"/>
              </a:rPr>
              <a:t>send_review: false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ra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"/>
            <a:ext cx="658368" cy="2057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0" y="329184"/>
            <a:ext cx="1828800" cy="2286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r"/>
            <a:r>
              <a:rPr sz="830" b="1">
                <a:solidFill>
                  <a:srgbClr val="324463"/>
                </a:solidFill>
                <a:latin typeface="IBM Plex Sans"/>
              </a:rPr>
              <a:t>Workflow 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14032"/>
            <a:ext cx="2926080" cy="21945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850" b="0">
                <a:solidFill>
                  <a:srgbClr val="324463"/>
                </a:solidFill>
                <a:latin typeface="IBM Plex Sans"/>
              </a:rPr>
              <a:t>Prepared for {{lead_company_name}}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46920" y="7114032"/>
            <a:ext cx="502920" cy="21945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r"/>
            <a:r>
              <a:rPr sz="850" b="0">
                <a:solidFill>
                  <a:srgbClr val="324463"/>
                </a:solidFill>
                <a:latin typeface="IBM Plex Sans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91440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D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978408"/>
            <a:ext cx="1563624" cy="1828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840" b="1">
                <a:solidFill>
                  <a:srgbClr val="0B6D60"/>
                </a:solidFill>
                <a:latin typeface="IBM Plex Sans"/>
              </a:rPr>
              <a:t>END-TO-END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353312"/>
            <a:ext cx="7680960" cy="65836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2150" b="1">
                <a:solidFill>
                  <a:srgbClr val="14213D"/>
                </a:solidFill>
                <a:latin typeface="Space Grotesk"/>
              </a:rPr>
              <a:t>Fracto can sit inside the {{lead_company_name}} rider and parcel workflow.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212848"/>
            <a:ext cx="2148840" cy="17556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414016"/>
            <a:ext cx="502920" cy="32004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900" b="1">
                <a:solidFill>
                  <a:srgbClr val="0E8F7D"/>
                </a:solidFill>
                <a:latin typeface="Space Grotesk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88920"/>
            <a:ext cx="173736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350" b="1">
                <a:solidFill>
                  <a:srgbClr val="14213D"/>
                </a:solidFill>
                <a:latin typeface="IBM Plex Sans"/>
              </a:rPr>
              <a:t>Capture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136392"/>
            <a:ext cx="1783080" cy="53035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860" b="0">
                <a:solidFill>
                  <a:srgbClr val="324463"/>
                </a:solidFill>
                <a:latin typeface="IBM Plex Sans"/>
              </a:rPr>
              <a:t>Riders, sellers, or hubs upload KYC files, parcel photos, and shipment documents.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25496" y="2852928"/>
            <a:ext cx="201168" cy="2286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500" b="1">
                <a:solidFill>
                  <a:srgbClr val="0E8F7D"/>
                </a:solidFill>
                <a:latin typeface="IBM Plex Sans"/>
              </a:rP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54096" y="2212848"/>
            <a:ext cx="2148840" cy="17556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2414016"/>
            <a:ext cx="502920" cy="32004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900" b="1">
                <a:solidFill>
                  <a:srgbClr val="0E8F7D"/>
                </a:solidFill>
                <a:latin typeface="Space Grotesk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2788920"/>
            <a:ext cx="173736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350" b="1">
                <a:solidFill>
                  <a:srgbClr val="14213D"/>
                </a:solidFill>
                <a:latin typeface="IBM Plex Sans"/>
              </a:rPr>
              <a:t>Classify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3136392"/>
            <a:ext cx="1783080" cy="53035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860" b="0">
                <a:solidFill>
                  <a:srgbClr val="324463"/>
                </a:solidFill>
                <a:latin typeface="IBM Plex Sans"/>
              </a:rPr>
              <a:t>Fracto identifies whether each upload is KYC, parcel image, POD, AWB, invoice, or manifest.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1224" y="2852928"/>
            <a:ext cx="201168" cy="2286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500" b="1">
                <a:solidFill>
                  <a:srgbClr val="0E8F7D"/>
                </a:solidFill>
                <a:latin typeface="IBM Plex Sans"/>
              </a:rPr>
              <a:t>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49824" y="2212848"/>
            <a:ext cx="2148840" cy="17556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14416" y="2414016"/>
            <a:ext cx="502920" cy="32004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900" b="1">
                <a:solidFill>
                  <a:srgbClr val="0E8F7D"/>
                </a:solidFill>
                <a:latin typeface="Space Grotesk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14416" y="2788920"/>
            <a:ext cx="173736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350" b="1">
                <a:solidFill>
                  <a:srgbClr val="14213D"/>
                </a:solidFill>
                <a:latin typeface="IBM Plex Sans"/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14416" y="3136392"/>
            <a:ext cx="1783080" cy="53035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860" b="0">
                <a:solidFill>
                  <a:srgbClr val="324463"/>
                </a:solidFill>
                <a:latin typeface="IBM Plex Sans"/>
              </a:rPr>
              <a:t>Images are checked for parcel/not-parcel status while documents are parsed into fields.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6952" y="2852928"/>
            <a:ext cx="201168" cy="2286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500" b="1">
                <a:solidFill>
                  <a:srgbClr val="0E8F7D"/>
                </a:solidFill>
                <a:latin typeface="IBM Plex San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45552" y="2212848"/>
            <a:ext cx="2148840" cy="17556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10144" y="2414016"/>
            <a:ext cx="502920" cy="32004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900" b="1">
                <a:solidFill>
                  <a:srgbClr val="0E8F7D"/>
                </a:solidFill>
                <a:latin typeface="Space Grotesk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0144" y="2788920"/>
            <a:ext cx="173736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350" b="1">
                <a:solidFill>
                  <a:srgbClr val="14213D"/>
                </a:solidFill>
                <a:latin typeface="IBM Plex Sans"/>
              </a:rPr>
              <a:t>Route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10144" y="3136392"/>
            <a:ext cx="1783080" cy="53035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860" b="0">
                <a:solidFill>
                  <a:srgbClr val="324463"/>
                </a:solidFill>
                <a:latin typeface="IBM Plex Sans"/>
              </a:rPr>
              <a:t>Clean decisions move to {{downstream_system}} while exceptions route to {{review_team}}.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572000"/>
            <a:ext cx="4663440" cy="16276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773168"/>
            <a:ext cx="402336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550" b="1">
                <a:solidFill>
                  <a:srgbClr val="14213D"/>
                </a:solidFill>
                <a:latin typeface="IBM Plex Sans"/>
              </a:rPr>
              <a:t>High-value insertion points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5138928"/>
            <a:ext cx="4069080" cy="896112"/>
          </a:xfrm>
          <a:prstGeom prst="rect">
            <a:avLst/>
          </a:prstGeom>
          <a:noFill/>
        </p:spPr>
        <p:txBody>
          <a:bodyPr wrap="square" lIns="50800" rIns="50800" tIns="25400" bIns="25400">
            <a:normAutofit/>
          </a:bodyPr>
          <a:lstStyle/>
          <a:p>
            <a:pPr>
              <a:spcAft>
                <a:spcPts val="500"/>
              </a:spcAft>
            </a:pPr>
            <a:r>
              <a:rPr sz="869" b="0">
                <a:solidFill>
                  <a:srgbClr val="324463"/>
                </a:solidFill>
                <a:latin typeface="IBM Plex Sans"/>
              </a:rPr>
              <a:t>- Rider onboarding</a:t>
            </a:r>
          </a:p>
          <a:p>
            <a:pPr>
              <a:spcAft>
                <a:spcPts val="500"/>
              </a:spcAft>
            </a:pPr>
            <a:r>
              <a:rPr sz="869" b="0">
                <a:solidFill>
                  <a:srgbClr val="324463"/>
                </a:solidFill>
                <a:latin typeface="IBM Plex Sans"/>
              </a:rPr>
              <a:t>- Delivery completion photos</a:t>
            </a:r>
          </a:p>
          <a:p>
            <a:pPr>
              <a:spcAft>
                <a:spcPts val="500"/>
              </a:spcAft>
            </a:pPr>
            <a:r>
              <a:rPr sz="869" b="0">
                <a:solidFill>
                  <a:srgbClr val="324463"/>
                </a:solidFill>
                <a:latin typeface="IBM Plex Sans"/>
              </a:rPr>
              <a:t>- Return and claim evidence</a:t>
            </a:r>
          </a:p>
          <a:p>
            <a:pPr>
              <a:spcAft>
                <a:spcPts val="500"/>
              </a:spcAft>
            </a:pPr>
            <a:r>
              <a:rPr sz="869" b="0">
                <a:solidFill>
                  <a:srgbClr val="324463"/>
                </a:solidFill>
                <a:latin typeface="IBM Plex Sans"/>
              </a:rPr>
              <a:t>- Seller or hub document uploads</a:t>
            </a:r>
          </a:p>
          <a:p>
            <a:pPr>
              <a:spcAft>
                <a:spcPts val="500"/>
              </a:spcAft>
            </a:pPr>
            <a:r>
              <a:rPr sz="869" b="0">
                <a:solidFill>
                  <a:srgbClr val="324463"/>
                </a:solidFill>
                <a:latin typeface="IBM Plex Sans"/>
              </a:rPr>
              <a:t>- Billing proof workflows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0" y="4572000"/>
            <a:ext cx="4160520" cy="1627632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79592" y="4773168"/>
            <a:ext cx="347472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550" b="1">
                <a:solidFill>
                  <a:srgbClr val="14213D"/>
                </a:solidFill>
                <a:latin typeface="IBM Plex Sans"/>
              </a:rPr>
              <a:t>Decision signals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07024" y="5138928"/>
            <a:ext cx="3474720" cy="896112"/>
          </a:xfrm>
          <a:prstGeom prst="rect">
            <a:avLst/>
          </a:prstGeom>
          <a:noFill/>
        </p:spPr>
        <p:txBody>
          <a:bodyPr wrap="square" lIns="50800" rIns="50800" tIns="25400" bIns="25400">
            <a:normAutofit/>
          </a:bodyPr>
          <a:lstStyle/>
          <a:p>
            <a:pPr>
              <a:spcAft>
                <a:spcPts val="500"/>
              </a:spcAft>
            </a:pPr>
            <a:r>
              <a:rPr sz="869" b="0">
                <a:solidFill>
                  <a:srgbClr val="324463"/>
                </a:solidFill>
                <a:latin typeface="IBM Plex Sans"/>
              </a:rPr>
              <a:t>- Parcel, not parcel, or review</a:t>
            </a:r>
          </a:p>
          <a:p>
            <a:pPr>
              <a:spcAft>
                <a:spcPts val="500"/>
              </a:spcAft>
            </a:pPr>
            <a:r>
              <a:rPr sz="869" b="0">
                <a:solidFill>
                  <a:srgbClr val="324463"/>
                </a:solidFill>
                <a:latin typeface="IBM Plex Sans"/>
              </a:rPr>
              <a:t>- Package and label visibility</a:t>
            </a:r>
          </a:p>
          <a:p>
            <a:pPr>
              <a:spcAft>
                <a:spcPts val="500"/>
              </a:spcAft>
            </a:pPr>
            <a:r>
              <a:rPr sz="869" b="0">
                <a:solidFill>
                  <a:srgbClr val="324463"/>
                </a:solidFill>
                <a:latin typeface="IBM Plex Sans"/>
              </a:rPr>
              <a:t>- KYC and shipment field confidence</a:t>
            </a:r>
          </a:p>
          <a:p>
            <a:pPr>
              <a:spcAft>
                <a:spcPts val="500"/>
              </a:spcAft>
            </a:pPr>
            <a:r>
              <a:rPr sz="869" b="0">
                <a:solidFill>
                  <a:srgbClr val="324463"/>
                </a:solidFill>
                <a:latin typeface="IBM Plex Sans"/>
              </a:rPr>
              <a:t>- Duplicate, blurred, or irrelevant uploads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ra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"/>
            <a:ext cx="658368" cy="2057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0" y="329184"/>
            <a:ext cx="1828800" cy="2286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r"/>
            <a:r>
              <a:rPr sz="830" b="1">
                <a:solidFill>
                  <a:srgbClr val="324463"/>
                </a:solidFill>
                <a:latin typeface="IBM Plex Sans"/>
              </a:rPr>
              <a:t>Operator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14032"/>
            <a:ext cx="2926080" cy="21945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850" b="0">
                <a:solidFill>
                  <a:srgbClr val="324463"/>
                </a:solidFill>
                <a:latin typeface="IBM Plex Sans"/>
              </a:rPr>
              <a:t>Prepared for {{lead_company_name}}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46920" y="7114032"/>
            <a:ext cx="502920" cy="21945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r"/>
            <a:r>
              <a:rPr sz="850" b="0">
                <a:solidFill>
                  <a:srgbClr val="324463"/>
                </a:solidFill>
                <a:latin typeface="IBM Plex Sans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914400"/>
            <a:ext cx="1920240" cy="329184"/>
          </a:xfrm>
          <a:prstGeom prst="roundRect">
            <a:avLst>
              <a:gd name="adj" fmla="val 50000"/>
            </a:avLst>
          </a:prstGeom>
          <a:solidFill>
            <a:srgbClr val="D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978408"/>
            <a:ext cx="1700784" cy="1828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840" b="1">
                <a:solidFill>
                  <a:srgbClr val="0B6D60"/>
                </a:solidFill>
                <a:latin typeface="IBM Plex Sans"/>
              </a:rPr>
              <a:t>BUSINESS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353312"/>
            <a:ext cx="7818120" cy="117043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980" b="1">
                <a:solidFill>
                  <a:srgbClr val="14213D"/>
                </a:solidFill>
                <a:latin typeface="Space Grotesk"/>
              </a:rPr>
              <a:t>The value case for {{prospect_role}} at {{lead_company_name}}.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633472"/>
            <a:ext cx="763524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019" b="0">
                <a:solidFill>
                  <a:srgbClr val="324463"/>
                </a:solidFill>
                <a:latin typeface="IBM Plex Sans"/>
              </a:rPr>
              <a:t>Help improve {{outcome_1}}, {{outcome_2}}, and {{outcome_3}} across {{primary_workflow}}.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35808"/>
            <a:ext cx="2788920" cy="11247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3218688"/>
            <a:ext cx="233172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450" b="1">
                <a:solidFill>
                  <a:srgbClr val="14213D"/>
                </a:solidFill>
                <a:latin typeface="Space Grotesk"/>
              </a:rPr>
              <a:t>Faster rider activation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602736"/>
            <a:ext cx="2331720" cy="30175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819" b="0">
                <a:solidFill>
                  <a:srgbClr val="324463"/>
                </a:solidFill>
                <a:latin typeface="IBM Plex Sans"/>
              </a:rPr>
              <a:t>KYC and onboarding documents move to decision faster.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85615" y="3035808"/>
            <a:ext cx="2788920" cy="11247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50207" y="3218688"/>
            <a:ext cx="233172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450" b="1">
                <a:solidFill>
                  <a:srgbClr val="14213D"/>
                </a:solidFill>
                <a:latin typeface="Space Grotesk"/>
              </a:rPr>
              <a:t>Cleaner delivery proof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0207" y="3602736"/>
            <a:ext cx="2331720" cy="30175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819" b="0">
                <a:solidFill>
                  <a:srgbClr val="324463"/>
                </a:solidFill>
                <a:latin typeface="IBM Plex Sans"/>
              </a:rPr>
              <a:t>Parcel photos can be accepted, rejected, or routed to review.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12864" y="3035808"/>
            <a:ext cx="2788920" cy="11247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77455" y="3218688"/>
            <a:ext cx="233172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450" b="1">
                <a:solidFill>
                  <a:srgbClr val="14213D"/>
                </a:solidFill>
                <a:latin typeface="Space Grotesk"/>
              </a:rPr>
              <a:t>One proof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7455" y="3602736"/>
            <a:ext cx="2331720" cy="30175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819" b="0">
                <a:solidFill>
                  <a:srgbClr val="324463"/>
                </a:solidFill>
                <a:latin typeface="IBM Plex Sans"/>
              </a:rPr>
              <a:t>Images, rider files, PODs, AWBs, invoices, and manifests in one API.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480560"/>
            <a:ext cx="45262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681728"/>
            <a:ext cx="393192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550" b="1">
                <a:solidFill>
                  <a:srgbClr val="14213D"/>
                </a:solidFill>
                <a:latin typeface="IBM Plex Sans"/>
              </a:rPr>
              <a:t>Common workflow bottlenecks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5029200"/>
            <a:ext cx="3794760" cy="658368"/>
          </a:xfrm>
          <a:prstGeom prst="rect">
            <a:avLst/>
          </a:prstGeom>
          <a:noFill/>
        </p:spPr>
        <p:txBody>
          <a:bodyPr wrap="square" lIns="50800" rIns="50800" tIns="25400" bIns="25400">
            <a:normAutofit/>
          </a:bodyPr>
          <a:lstStyle/>
          <a:p>
            <a:pPr>
              <a:spcAft>
                <a:spcPts val="500"/>
              </a:spcAft>
            </a:pPr>
            <a:r>
              <a:rPr sz="940" b="0">
                <a:solidFill>
                  <a:srgbClr val="324463"/>
                </a:solidFill>
                <a:latin typeface="IBM Plex Sans"/>
              </a:rPr>
              <a:t>- Rider photos are checked manually</a:t>
            </a:r>
          </a:p>
          <a:p>
            <a:pPr>
              <a:spcAft>
                <a:spcPts val="500"/>
              </a:spcAft>
            </a:pPr>
            <a:r>
              <a:rPr sz="940" b="0">
                <a:solidFill>
                  <a:srgbClr val="324463"/>
                </a:solidFill>
                <a:latin typeface="IBM Plex Sans"/>
              </a:rPr>
              <a:t>- Random or unusable images enter ops queues</a:t>
            </a:r>
          </a:p>
          <a:p>
            <a:pPr>
              <a:spcAft>
                <a:spcPts val="500"/>
              </a:spcAft>
            </a:pPr>
            <a:r>
              <a:rPr sz="940" b="0">
                <a:solidFill>
                  <a:srgbClr val="324463"/>
                </a:solidFill>
                <a:latin typeface="IBM Plex Sans"/>
              </a:rPr>
              <a:t>- KYC and shipment fields are retyped</a:t>
            </a:r>
          </a:p>
          <a:p>
            <a:pPr>
              <a:spcAft>
                <a:spcPts val="500"/>
              </a:spcAft>
            </a:pPr>
            <a:r>
              <a:rPr sz="940" b="0">
                <a:solidFill>
                  <a:srgbClr val="324463"/>
                </a:solidFill>
                <a:latin typeface="IBM Plex Sans"/>
              </a:rPr>
              <a:t>- Claims and billing wait for proof status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32120" y="4480560"/>
            <a:ext cx="4297680" cy="1417320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42432" y="4681728"/>
            <a:ext cx="370332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550" b="1">
                <a:solidFill>
                  <a:srgbClr val="14213D"/>
                </a:solidFill>
                <a:latin typeface="IBM Plex Sans"/>
              </a:rPr>
              <a:t>What Fracto enables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9864" y="5029200"/>
            <a:ext cx="3566160" cy="658368"/>
          </a:xfrm>
          <a:prstGeom prst="rect">
            <a:avLst/>
          </a:prstGeom>
          <a:noFill/>
        </p:spPr>
        <p:txBody>
          <a:bodyPr wrap="square" lIns="50800" rIns="50800" tIns="25400" bIns="25400">
            <a:normAutofit/>
          </a:bodyPr>
          <a:lstStyle/>
          <a:p>
            <a:pPr>
              <a:spcAft>
                <a:spcPts val="500"/>
              </a:spcAft>
            </a:pPr>
            <a:r>
              <a:rPr sz="940" b="0">
                <a:solidFill>
                  <a:srgbClr val="324463"/>
                </a:solidFill>
                <a:latin typeface="IBM Plex Sans"/>
              </a:rPr>
              <a:t>- Automated image decisioning</a:t>
            </a:r>
          </a:p>
          <a:p>
            <a:pPr>
              <a:spcAft>
                <a:spcPts val="500"/>
              </a:spcAft>
            </a:pPr>
            <a:r>
              <a:rPr sz="940" b="0">
                <a:solidFill>
                  <a:srgbClr val="324463"/>
                </a:solidFill>
                <a:latin typeface="IBM Plex Sans"/>
              </a:rPr>
              <a:t>- Structured rider and shipment outputs</a:t>
            </a:r>
          </a:p>
          <a:p>
            <a:pPr>
              <a:spcAft>
                <a:spcPts val="500"/>
              </a:spcAft>
            </a:pPr>
            <a:r>
              <a:rPr sz="940" b="0">
                <a:solidFill>
                  <a:srgbClr val="324463"/>
                </a:solidFill>
                <a:latin typeface="IBM Plex Sans"/>
              </a:rPr>
              <a:t>- Reviewer queues only for exceptions</a:t>
            </a:r>
          </a:p>
          <a:p>
            <a:pPr>
              <a:spcAft>
                <a:spcPts val="500"/>
              </a:spcAft>
            </a:pPr>
            <a:r>
              <a:rPr sz="940" b="0">
                <a:solidFill>
                  <a:srgbClr val="324463"/>
                </a:solidFill>
                <a:latin typeface="IBM Plex Sans"/>
              </a:rPr>
              <a:t>- Better delivery proof and audit trail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ra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"/>
            <a:ext cx="658368" cy="2057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0" y="329184"/>
            <a:ext cx="1828800" cy="2286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r"/>
            <a:r>
              <a:rPr sz="830" b="1">
                <a:solidFill>
                  <a:srgbClr val="324463"/>
                </a:solidFill>
                <a:latin typeface="IBM Plex Sans"/>
              </a:rPr>
              <a:t>Book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14032"/>
            <a:ext cx="2926080" cy="21945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850" b="0">
                <a:solidFill>
                  <a:srgbClr val="324463"/>
                </a:solidFill>
                <a:latin typeface="IBM Plex Sans"/>
              </a:rPr>
              <a:t>Prepared for {{lead_company_name}}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46920" y="7114032"/>
            <a:ext cx="502920" cy="219456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r"/>
            <a:r>
              <a:rPr sz="850" b="0">
                <a:solidFill>
                  <a:srgbClr val="324463"/>
                </a:solidFill>
                <a:latin typeface="IBM Plex Sans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9144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D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978408"/>
            <a:ext cx="969264" cy="1828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840" b="1">
                <a:solidFill>
                  <a:srgbClr val="0B6D60"/>
                </a:solidFill>
                <a:latin typeface="IBM Plex Sans"/>
              </a:rPr>
              <a:t>NEXT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353312"/>
            <a:ext cx="4937760" cy="1417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2050" b="1">
                <a:solidFill>
                  <a:srgbClr val="14213D"/>
                </a:solidFill>
                <a:latin typeface="Space Grotesk"/>
              </a:rPr>
              <a:t>{{prospect_name}}, want to review this on a few {{lead_company_name}} delivery files?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80360"/>
            <a:ext cx="4709160" cy="43891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060" b="0">
                <a:solidFill>
                  <a:srgbClr val="324463"/>
                </a:solidFill>
                <a:latin typeface="IBM Plex Sans"/>
              </a:rPr>
              <a:t>Book a demo to review rider onboarding documents, parcel image verification, shipment document parsing, and exception routing on sample files.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675887"/>
            <a:ext cx="4754880" cy="1536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77056"/>
            <a:ext cx="347472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400" b="1">
                <a:solidFill>
                  <a:srgbClr val="14213D"/>
                </a:solidFill>
                <a:latin typeface="IBM Plex Sans"/>
              </a:rPr>
              <a:t>Suggested demo 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251960"/>
            <a:ext cx="4069080" cy="694944"/>
          </a:xfrm>
          <a:prstGeom prst="rect">
            <a:avLst/>
          </a:prstGeom>
          <a:noFill/>
        </p:spPr>
        <p:txBody>
          <a:bodyPr wrap="square" lIns="50800" rIns="50800" tIns="25400" bIns="25400">
            <a:normAutofit/>
          </a:bodyPr>
          <a:lstStyle/>
          <a:p>
            <a:pPr>
              <a:spcAft>
                <a:spcPts val="500"/>
              </a:spcAft>
            </a:pPr>
            <a:r>
              <a:rPr sz="919" b="0">
                <a:solidFill>
                  <a:srgbClr val="324463"/>
                </a:solidFill>
                <a:latin typeface="IBM Plex Sans"/>
              </a:rPr>
              <a:t>- Input bundle: {{sample_document_types}}</a:t>
            </a:r>
          </a:p>
          <a:p>
            <a:pPr>
              <a:spcAft>
                <a:spcPts val="500"/>
              </a:spcAft>
            </a:pPr>
            <a:r>
              <a:rPr sz="919" b="0">
                <a:solidFill>
                  <a:srgbClr val="324463"/>
                </a:solidFill>
                <a:latin typeface="IBM Plex Sans"/>
              </a:rPr>
              <a:t>- Flow: {{demo_flow}}</a:t>
            </a:r>
          </a:p>
          <a:p>
            <a:pPr>
              <a:spcAft>
                <a:spcPts val="500"/>
              </a:spcAft>
            </a:pPr>
            <a:r>
              <a:rPr sz="919" b="0">
                <a:solidFill>
                  <a:srgbClr val="324463"/>
                </a:solidFill>
                <a:latin typeface="IBM Plex Sans"/>
              </a:rPr>
              <a:t>- Success metric: {{success_metric}}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394960"/>
            <a:ext cx="4754880" cy="960120"/>
          </a:xfrm>
          <a:prstGeom prst="roundRect">
            <a:avLst>
              <a:gd name="adj" fmla="val 8000"/>
            </a:avLst>
          </a:prstGeom>
          <a:solidFill>
            <a:srgbClr val="15314D"/>
          </a:solidFill>
          <a:ln w="12700">
            <a:solidFill>
              <a:srgbClr val="1531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5541264"/>
            <a:ext cx="4425696" cy="32004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pace Grotesk"/>
              </a:rPr>
              <a:t>Demo Focus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5925312"/>
            <a:ext cx="4425696" cy="32004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20" b="0">
                <a:solidFill>
                  <a:srgbClr val="FFFFFF"/>
                </a:solidFill>
                <a:latin typeface="IBM Plex Sans"/>
              </a:rPr>
              <a:t>Review real delivery images first. Then scope the right integration path.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1170432"/>
            <a:ext cx="3931920" cy="5074920"/>
          </a:xfrm>
          <a:prstGeom prst="roundRect">
            <a:avLst>
              <a:gd name="adj" fmla="val 8000"/>
            </a:avLst>
          </a:prstGeom>
          <a:solidFill>
            <a:srgbClr val="15314D"/>
          </a:solidFill>
          <a:ln w="12700">
            <a:solidFill>
              <a:srgbClr val="1531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536192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D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8" y="1600200"/>
            <a:ext cx="1289304" cy="1828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840" b="1">
                <a:solidFill>
                  <a:srgbClr val="0B6D60"/>
                </a:solidFill>
                <a:latin typeface="IBM Plex Sans"/>
              </a:rPr>
              <a:t>TALK TO FRACTO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2057400"/>
            <a:ext cx="3246120" cy="5943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Space Grotesk"/>
              </a:rPr>
              <a:t>Book a demo and review capabilities.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2944368"/>
            <a:ext cx="3337560" cy="530352"/>
          </a:xfrm>
          <a:prstGeom prst="roundRect">
            <a:avLst>
              <a:gd name="adj" fmla="val 8000"/>
            </a:avLst>
          </a:prstGeom>
          <a:solidFill>
            <a:srgbClr val="0B6D60"/>
          </a:solidFill>
          <a:ln w="12700">
            <a:solidFill>
              <a:srgbClr val="0B6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3017520"/>
            <a:ext cx="822960" cy="1645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IBM Plex Sans"/>
              </a:rPr>
              <a:t>EMAIL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0608" y="2999232"/>
            <a:ext cx="2148840" cy="20116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pace Grotesk"/>
              </a:rPr>
              <a:t>sales@fracto.tech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9632" y="3657600"/>
            <a:ext cx="3337560" cy="530352"/>
          </a:xfrm>
          <a:prstGeom prst="roundRect">
            <a:avLst>
              <a:gd name="adj" fmla="val 8000"/>
            </a:avLst>
          </a:prstGeom>
          <a:solidFill>
            <a:srgbClr val="0B6D60"/>
          </a:solidFill>
          <a:ln w="12700">
            <a:solidFill>
              <a:srgbClr val="0B6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3730752"/>
            <a:ext cx="822960" cy="1645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IBM Plex Sans"/>
              </a:rPr>
              <a:t>PHONE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3712463"/>
            <a:ext cx="2148840" cy="20116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pace Grotesk"/>
              </a:rPr>
              <a:t>+91 84483 33277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9632" y="4370832"/>
            <a:ext cx="3337560" cy="530352"/>
          </a:xfrm>
          <a:prstGeom prst="roundRect">
            <a:avLst>
              <a:gd name="adj" fmla="val 8000"/>
            </a:avLst>
          </a:prstGeom>
          <a:solidFill>
            <a:srgbClr val="0B6D60"/>
          </a:solidFill>
          <a:ln w="12700">
            <a:solidFill>
              <a:srgbClr val="0B6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4443984"/>
            <a:ext cx="822960" cy="16459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IBM Plex Sans"/>
              </a:rPr>
              <a:t>WEBSITE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0608" y="4425696"/>
            <a:ext cx="2148840" cy="20116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pace Grotesk"/>
              </a:rPr>
              <a:t>fracto.tech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2" y="5413248"/>
            <a:ext cx="3291840" cy="23774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880" b="0">
                <a:solidFill>
                  <a:srgbClr val="FFFFFF"/>
                </a:solidFill>
                <a:latin typeface="IBM Plex Sans"/>
              </a:rPr>
              <a:t>Next step: review a small {{primary_workflow}} sample set.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Fracto Quick Commerce Delivery Dynamic Sales Deck</dc:title>
  <dc:subject>Personalized client-facing sales deck with editable variables</dc:subject>
  <dc:creator>Fracto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