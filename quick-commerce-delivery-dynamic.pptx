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20" d="100"/>
          <a:sy n="120" d="100"/>
        </p:scale>
        <p:origin x="101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Quick Commerce Ops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32688"/>
            <a:ext cx="38862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96696"/>
            <a:ext cx="366674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AI INFRASTRUCTURE FOR RIDER AND PARCEL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562356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Space Grotesk"/>
              </a:rPr>
              <a:t>Automate {{primary_workflow}} for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2868"/>
            <a:ext cx="5532120" cy="95554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140" b="0">
                <a:solidFill>
                  <a:srgbClr val="324463"/>
                </a:solidFill>
                <a:latin typeface="IBM Plex Sans"/>
              </a:rPr>
              <a:t>Prepared for {{prospect_name}} and the {{lead_company_name}} team. Fracto can verify rider onboarding documents, classify delivery images, and return parcel-proof decisions directly into ops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47872"/>
            <a:ext cx="4983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721608"/>
            <a:ext cx="4526280" cy="7498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Rider onboarding for Aadhaar, PAN, DL, and ID files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Parcel delivery image verification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POD, AWB, invoice, and manifest extraction</a:t>
            </a:r>
          </a:p>
          <a:p>
            <a:pPr>
              <a:spcAft>
                <a:spcPts val="500"/>
              </a:spcAft>
            </a:pPr>
            <a:r>
              <a:rPr sz="960" b="0">
                <a:solidFill>
                  <a:srgbClr val="324463"/>
                </a:solidFill>
                <a:latin typeface="IBM Plex Sans"/>
              </a:rPr>
              <a:t>- APIs for rider apps, seller portals, and ops queues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8920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976622"/>
            <a:ext cx="15544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Extract/Verify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41448" y="4892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87171" y="4972050"/>
            <a:ext cx="868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Rider KYC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48920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93594" y="4972050"/>
            <a:ext cx="10058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Parcel proof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2852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5372100"/>
            <a:ext cx="868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50" b="1" dirty="0">
                <a:solidFill>
                  <a:srgbClr val="324463"/>
                </a:solidFill>
                <a:latin typeface="IBM Plex Sans"/>
              </a:rPr>
              <a:t>POD / AWB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64792" y="52852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10512" y="5372100"/>
            <a:ext cx="1463039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lang="en-US" sz="850" b="1" dirty="0">
                <a:solidFill>
                  <a:srgbClr val="324463"/>
                </a:solidFill>
                <a:latin typeface="IBM Plex Sans"/>
              </a:rPr>
              <a:t>Aadhar Masking</a:t>
            </a:r>
            <a:endParaRPr sz="850" b="1" dirty="0">
              <a:solidFill>
                <a:srgbClr val="324463"/>
              </a:solidFill>
              <a:latin typeface="IBM Plex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932688"/>
            <a:ext cx="3611880" cy="419252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1152144"/>
            <a:ext cx="297180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IBM Plex Sans"/>
              </a:rPr>
              <a:t>What this changes for {{lead_company_name}}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Rider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KYC fields and onboarding documents become structured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18470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1993392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Parcel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42032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Images return parcel, not parcel, or review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7688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4848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Docs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POD, AWB, invoice, and manifest extraction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2004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346704"/>
            <a:ext cx="114300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60" b="1">
                <a:solidFill>
                  <a:srgbClr val="0B6D60"/>
                </a:solidFill>
                <a:latin typeface="IBM Plex Sans"/>
              </a:rPr>
              <a:t>Faster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95344"/>
            <a:ext cx="114300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90" b="0">
                <a:solidFill>
                  <a:srgbClr val="324463"/>
                </a:solidFill>
                <a:latin typeface="IBM Plex Sans"/>
              </a:rPr>
              <a:t>Exceptions route before customer or billing delays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303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5449824"/>
            <a:ext cx="323697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833872"/>
            <a:ext cx="3236976" cy="5029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IBM Plex Sans"/>
              </a:rPr>
              <a:t>One verification layer for {{lead_company_name}} across rider documents and parcel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Reference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83794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DELIVERY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303520" cy="95097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Space Grotesk"/>
              </a:rPr>
              <a:t>Fracto supports parcel, delivery, and e-commerce operations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166360" cy="694944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50" b="0">
                <a:solidFill>
                  <a:srgbClr val="324463"/>
                </a:solidFill>
                <a:latin typeface="IBM Plex Sans"/>
              </a:rPr>
              <a:t>For {{lead_company_name}}, the same layer can support rider onboarding, delivery image verification, shipment documents, and exception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55264"/>
            <a:ext cx="3749039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40" b="1">
                <a:solidFill>
                  <a:srgbClr val="14213D"/>
                </a:solidFill>
                <a:latin typeface="IBM Plex Sans"/>
              </a:rPr>
              <a:t>Relevant delivery and e-commerce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wq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3802075"/>
            <a:ext cx="1152144" cy="33284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496312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rcel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836822"/>
            <a:ext cx="1152144" cy="2633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123944" y="3675887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jeeb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544" y="3767327"/>
            <a:ext cx="406400" cy="4023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ets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4665177"/>
            <a:ext cx="1152144" cy="25255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496312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leet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4637836"/>
            <a:ext cx="1152144" cy="30723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23944" y="4498848"/>
            <a:ext cx="137160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etpooj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672" y="4686317"/>
            <a:ext cx="1152144" cy="21027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1389888"/>
            <a:ext cx="36118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609344"/>
            <a:ext cx="3127248" cy="6217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Why this matters for {{lead_company_name}}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59152"/>
            <a:ext cx="3063240" cy="78638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High daily proof-image volume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Rider and seller uploads vary in quality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Parcel proof decisions need to be fast</a:t>
            </a:r>
          </a:p>
          <a:p>
            <a:pPr>
              <a:spcAft>
                <a:spcPts val="500"/>
              </a:spcAft>
            </a:pPr>
            <a:r>
              <a:rPr sz="890" b="0">
                <a:solidFill>
                  <a:srgbClr val="324463"/>
                </a:solidFill>
                <a:latin typeface="IBM Plex Sans"/>
              </a:rPr>
              <a:t>- Exceptions need quick routing to ops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30752"/>
            <a:ext cx="3611880" cy="184708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3950208"/>
            <a:ext cx="312724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80" b="1">
                <a:solidFill>
                  <a:srgbClr val="14213D"/>
                </a:solidFill>
                <a:latin typeface="IBM Plex Sans"/>
              </a:rPr>
              <a:t>What your team can expect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3063240" cy="859536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Automated parcel / not-parcel flags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Cleaner rider onboarding records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Structured shipment document outputs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Lower manual review across ops queues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Why Delivery Ops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9293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5623560" cy="8961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Delivery teams move fast, but image proof and onboarding checks still get stuck in queues.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5440680" cy="749808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60" b="0" dirty="0">
                <a:solidFill>
                  <a:srgbClr val="324463"/>
                </a:solidFill>
                <a:latin typeface="IBM Plex Sans"/>
              </a:rPr>
              <a:t>For {{</a:t>
            </a:r>
            <a:r>
              <a:rPr sz="1060" b="0" dirty="0" err="1">
                <a:solidFill>
                  <a:srgbClr val="324463"/>
                </a:solidFill>
                <a:latin typeface="IBM Plex Sans"/>
              </a:rPr>
              <a:t>lead_company_name</a:t>
            </a:r>
            <a:r>
              <a:rPr sz="1060" b="0" dirty="0">
                <a:solidFill>
                  <a:srgbClr val="324463"/>
                </a:solidFill>
                <a:latin typeface="IBM Plex Sans"/>
              </a:rPr>
              <a:t>}}, {{pain_point_1}} can slow down {{</a:t>
            </a:r>
            <a:r>
              <a:rPr sz="1060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60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Rider uploads are inconsistent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Ops teams still check whether a photo actually shows a parcel.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99232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0712" y="314553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319582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529584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Rider onboarding needs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968496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Aadhaar, PAN, DL, and ID uploads arrive blurred or incomplete.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Shipment files are copied manually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POD, AWB, invoice, and manifest fields still move across tools by hand.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663440"/>
            <a:ext cx="23317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10712" y="4809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4860036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5193792"/>
            <a:ext cx="2002536" cy="38404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220" b="1">
                <a:solidFill>
                  <a:srgbClr val="14213D"/>
                </a:solidFill>
                <a:latin typeface="IBM Plex Sans"/>
              </a:rPr>
              <a:t>Exceptions pile up quickly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5632704"/>
            <a:ext cx="2002536" cy="40233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Daily delivery spikes create review backlogs across hubs and ops teams.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389888"/>
            <a:ext cx="3611880" cy="2139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1627632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Typical failure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048256"/>
            <a:ext cx="306324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Random, duplicate, blurry, or cropped delivery photos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Manual checks for package visibility and label presence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Rider KYC and shipment files reviewed in separate tools</a:t>
            </a:r>
          </a:p>
          <a:p>
            <a:pPr>
              <a:spcAft>
                <a:spcPts val="500"/>
              </a:spcAft>
            </a:pPr>
            <a:r>
              <a:rPr sz="960" b="0" dirty="0">
                <a:solidFill>
                  <a:srgbClr val="324463"/>
                </a:solidFill>
                <a:latin typeface="IBM Plex Sans"/>
              </a:rPr>
              <a:t>- Customer, billing, and claims teams wait on proof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49039"/>
            <a:ext cx="3611880" cy="1938528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977639"/>
            <a:ext cx="3127248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IBM Plex Sans"/>
              </a:rPr>
              <a:t>What teams need instead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30632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Automated valid or invalid parcel image decisions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Extraction for onboarding and shipment documents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Review only uncertain cases</a:t>
            </a:r>
          </a:p>
          <a:p>
            <a:pPr>
              <a:spcAft>
                <a:spcPts val="500"/>
              </a:spcAft>
            </a:pPr>
            <a:r>
              <a:rPr sz="980" b="0">
                <a:solidFill>
                  <a:srgbClr val="324463"/>
                </a:solidFill>
                <a:latin typeface="IBM Plex Sans"/>
              </a:rPr>
              <a:t>- API outputs for rider apps and ops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Rider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4780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RIDER KYC + VEHICLE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8138160" cy="5669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39" b="1">
                <a:solidFill>
                  <a:srgbClr val="14213D"/>
                </a:solidFill>
                <a:latin typeface="Space Grotesk"/>
              </a:rPr>
              <a:t>Rider onboarding: verify identity, documents, and vehicle before first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79095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0">
                <a:solidFill>
                  <a:srgbClr val="324463"/>
                </a:solidFill>
                <a:latin typeface="IBM Plex Sans"/>
              </a:rPr>
              <a:t>The same Fracto layer can parse rider files, mask Aadhaar, validate DL/RC data, and return a clean onboarding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4526280" cy="3858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2461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80" b="1">
                <a:solidFill>
                  <a:srgbClr val="14213D"/>
                </a:solidFill>
                <a:latin typeface="IBM Plex Sans"/>
              </a:rPr>
              <a:t>Sample onboarding uploads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27248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4983" y="3255264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3305556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KYC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264408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Aadhaar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575304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Masked identity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86791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AADHAAR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14223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XXXX XXXX 4321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2569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41655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0001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469087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Bengaluru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127248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18104" y="3255264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63824" y="3305556"/>
            <a:ext cx="56692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780" b="1">
                <a:solidFill>
                  <a:srgbClr val="0B6D60"/>
                </a:solidFill>
                <a:latin typeface="IBM Plex Sans"/>
              </a:rPr>
              <a:t>PAN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264408"/>
            <a:ext cx="923544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40" b="1">
                <a:solidFill>
                  <a:srgbClr val="14213D"/>
                </a:solidFill>
                <a:latin typeface="IBM Plex Sans"/>
              </a:rPr>
              <a:t>PAN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4" y="3575304"/>
            <a:ext cx="1673351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20" b="0">
                <a:solidFill>
                  <a:srgbClr val="324463"/>
                </a:solidFill>
                <a:latin typeface="IBM Plex Sans"/>
              </a:rPr>
              <a:t>Tax ID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87705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86791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RAVI KUMAR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15137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414223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ABCDE1234F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42569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7912" y="441655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Name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700016"/>
            <a:ext cx="676656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540" b="1">
                <a:solidFill>
                  <a:srgbClr val="324463"/>
                </a:solidFill>
                <a:latin typeface="IBM Plex Sans"/>
              </a:rPr>
              <a:t>DOB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7912" y="4690872"/>
            <a:ext cx="886968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14213D"/>
                </a:solidFill>
                <a:latin typeface="IBM Plex Sans"/>
              </a:rPr>
              <a:t>19XX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376672"/>
            <a:ext cx="4069080" cy="603504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5" y="5532120"/>
            <a:ext cx="1298448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1">
                <a:solidFill>
                  <a:srgbClr val="0B6D60"/>
                </a:solidFill>
                <a:latin typeface="IBM Plex Sans"/>
              </a:rPr>
              <a:t>Verification inputs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5532120"/>
            <a:ext cx="24688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40" b="0">
                <a:solidFill>
                  <a:srgbClr val="324463"/>
                </a:solidFill>
                <a:latin typeface="IBM Plex Sans"/>
              </a:rPr>
              <a:t>DL: KA05 20XX 1234567 | RC: KA-05-AB-1234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2487168"/>
            <a:ext cx="2057400" cy="190195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32704" y="2706624"/>
            <a:ext cx="1627632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Extracted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3072384"/>
            <a:ext cx="1600200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rider_name: Ravi Kumar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aadhaar: XXXX-XXXX-4321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pan: ABCDE1234F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dl_no: KA05 20XX 1234567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rc_no: KA-05-AB-1234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2487168"/>
            <a:ext cx="205740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91272" y="2706624"/>
            <a:ext cx="15727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20" b="1">
                <a:solidFill>
                  <a:srgbClr val="14213D"/>
                </a:solidFill>
                <a:latin typeface="IBM Plex Sans"/>
              </a:rPr>
              <a:t>Fracto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072384"/>
            <a:ext cx="1572768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aadhaar_masked: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pan_name_match: true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dl_status: active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rc_status: verified</a:t>
            </a:r>
          </a:p>
          <a:p>
            <a:pPr>
              <a:spcAft>
                <a:spcPts val="500"/>
              </a:spcAft>
            </a:pPr>
            <a:r>
              <a:rPr sz="740" b="0">
                <a:solidFill>
                  <a:srgbClr val="324463"/>
                </a:solidFill>
                <a:latin typeface="IBM Plex Sans"/>
              </a:rPr>
              <a:t>route_to: {{downstream_system}}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40680" y="4645152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05272" y="4782312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DL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5056632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holder_match: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vehicle_class: 2W/LMV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valid_till: 2028-12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99248" y="4645152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0" y="4782312"/>
            <a:ext cx="172821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Parivahan RC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056632"/>
            <a:ext cx="1728216" cy="9235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status: verified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owner_match: true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fitness: active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insurance: valid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2112263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PARCEL IMAGE +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8183879" cy="56692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39" b="1">
                <a:solidFill>
                  <a:srgbClr val="14213D"/>
                </a:solidFill>
                <a:latin typeface="Space Grotesk"/>
              </a:rPr>
              <a:t>Qwqer use case: confirm whether a parcel is visible in the delivery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800100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0">
                <a:solidFill>
                  <a:srgbClr val="324463"/>
                </a:solidFill>
                <a:latin typeface="IBM Plex Sans"/>
              </a:rPr>
              <a:t>Fracto reads the rider-uploaded image and returns a simple decision that can move directly into the delivery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06324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80" b="1">
                <a:solidFill>
                  <a:srgbClr val="14213D"/>
                </a:solidFill>
                <a:latin typeface="IBM Plex Sans"/>
              </a:rPr>
              <a:t>Rider delivery image</a:t>
            </a:r>
          </a:p>
        </p:txBody>
      </p:sp>
      <p:pic>
        <p:nvPicPr>
          <p:cNvPr id="12" name="Picture 11" descr="quick-commerce-qwqer-parcel-visi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586" y="2999232"/>
            <a:ext cx="2283738" cy="2971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089904"/>
            <a:ext cx="3108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80" b="0">
                <a:solidFill>
                  <a:srgbClr val="324463"/>
                </a:solidFill>
                <a:latin typeface="IBM Plex Sans"/>
              </a:rPr>
              <a:t>Parcel and shipping label are visible in the uploaded proof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487168"/>
            <a:ext cx="5212080" cy="190195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2706624"/>
            <a:ext cx="420624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20" b="1">
                <a:solidFill>
                  <a:srgbClr val="14213D"/>
                </a:solidFill>
                <a:latin typeface="IBM Plex Sans"/>
              </a:rPr>
              <a:t>Extracted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4608" y="310896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136245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Is Parcel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56432"/>
            <a:ext cx="1362456" cy="31089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919" b="0">
                <a:solidFill>
                  <a:srgbClr val="324463"/>
                </a:solidFill>
                <a:latin typeface="IBM Plex Sans"/>
              </a:rPr>
              <a:t>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3108960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12864" y="3255264"/>
            <a:ext cx="2414016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1">
                <a:solidFill>
                  <a:srgbClr val="0B6D60"/>
                </a:solidFill>
                <a:latin typeface="IBM Plex Sans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456432"/>
            <a:ext cx="2414016" cy="310896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919" b="0" dirty="0">
                <a:solidFill>
                  <a:srgbClr val="324463"/>
                </a:solidFill>
                <a:latin typeface="IBM Plex Sans"/>
              </a:rPr>
              <a:t>Brown package with shipping label and branded tape.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617720"/>
            <a:ext cx="24688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4818888"/>
            <a:ext cx="201168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20" b="1">
                <a:solidFill>
                  <a:srgbClr val="14213D"/>
                </a:solidFill>
                <a:latin typeface="IBM Plex Sans"/>
              </a:rPr>
              <a:t>Delivery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75504"/>
            <a:ext cx="1874519" cy="6400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parcel_visible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true</a:t>
            </a:r>
          </a:p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proof_status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accept</a:t>
            </a:r>
          </a:p>
          <a:p>
            <a:pPr>
              <a:spcAft>
                <a:spcPts val="500"/>
              </a:spcAft>
            </a:pPr>
            <a:r>
              <a:rPr sz="819" b="0" dirty="0" err="1">
                <a:solidFill>
                  <a:srgbClr val="324463"/>
                </a:solidFill>
                <a:latin typeface="IBM Plex Sans"/>
              </a:rPr>
              <a:t>review_required</a:t>
            </a:r>
            <a:r>
              <a:rPr sz="819" b="0" dirty="0">
                <a:solidFill>
                  <a:srgbClr val="324463"/>
                </a:solidFill>
                <a:latin typeface="IBM Plex Sans"/>
              </a:rPr>
              <a:t>: 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617720"/>
            <a:ext cx="2468880" cy="1481328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4754880"/>
            <a:ext cx="2139696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IBM Plex Sans"/>
              </a:rPr>
              <a:t>Ops Callback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5029200"/>
            <a:ext cx="2139696" cy="98755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order_id: {{order_id}}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image_type: parcel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route_to: {{downstream_system}}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FFFFFF"/>
                </a:solidFill>
                <a:latin typeface="IBM Plex Sans"/>
              </a:rPr>
              <a:t>send_review: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Workflow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56362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END-TO-END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68096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150" b="1">
                <a:solidFill>
                  <a:srgbClr val="14213D"/>
                </a:solidFill>
                <a:latin typeface="Space Grotesk"/>
              </a:rPr>
              <a:t>Fracto can sit inside the {{lead_company_name}} rider and parcel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Riders, sellers, or hubs upload KYC files, parcel photos, and shipment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Fracto identifies whether each upload is KYC, parcel image, POD, AWB, invoice, or manifest.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9824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14416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Images are checked for parcel/not-parcel status while documents are parsed into fields.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52928"/>
            <a:ext cx="201168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1500" b="1">
                <a:solidFill>
                  <a:srgbClr val="0E8F7D"/>
                </a:solidFill>
                <a:latin typeface="IBM Plex San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212848"/>
            <a:ext cx="2148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0144" y="2414016"/>
            <a:ext cx="5029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00" b="1">
                <a:solidFill>
                  <a:srgbClr val="0E8F7D"/>
                </a:solidFill>
                <a:latin typeface="Space Grotes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788920"/>
            <a:ext cx="173736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350" b="1">
                <a:solidFill>
                  <a:srgbClr val="14213D"/>
                </a:solidFill>
                <a:latin typeface="IBM Plex Sans"/>
              </a:rPr>
              <a:t>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136392"/>
            <a:ext cx="1783080" cy="5303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60" b="0">
                <a:solidFill>
                  <a:srgbClr val="324463"/>
                </a:solidFill>
                <a:latin typeface="IBM Plex Sans"/>
              </a:rPr>
              <a:t>Clean decisions move to {{downstream_system}} while exceptions route to {{review_team}}.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72000"/>
            <a:ext cx="4663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402336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High-value insertion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138928"/>
            <a:ext cx="406908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Rider onboarding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Delivery completion photos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Return and claim evidence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Seller or hub document uploads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Billing proof 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572000"/>
            <a:ext cx="4160520" cy="162763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79592" y="4773168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Decision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7024" y="5138928"/>
            <a:ext cx="3474720" cy="896112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Parcel, not parcel, or review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Package and label visibility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KYC and shipment field confidence</a:t>
            </a:r>
          </a:p>
          <a:p>
            <a:pPr>
              <a:spcAft>
                <a:spcPts val="500"/>
              </a:spcAft>
            </a:pPr>
            <a:r>
              <a:rPr sz="869" b="0">
                <a:solidFill>
                  <a:srgbClr val="324463"/>
                </a:solidFill>
                <a:latin typeface="IBM Plex Sans"/>
              </a:rPr>
              <a:t>- Duplicate, blurred, or irrelevant uploads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Operator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170078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BUSINESS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7818120" cy="11704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980" b="1">
                <a:solidFill>
                  <a:srgbClr val="14213D"/>
                </a:solidFill>
                <a:latin typeface="Space Grotesk"/>
              </a:rPr>
              <a:t>The value case for {{prospect_role}} at {{lead_company_name}}.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7635240" cy="1124712"/>
          </a:xfrm>
          <a:prstGeom prst="rect">
            <a:avLst/>
          </a:prstGeom>
          <a:noFill/>
        </p:spPr>
        <p:txBody>
          <a:bodyPr wrap="square" lIns="25400" tIns="12700" rIns="25400" bIns="12700" anchor="b">
            <a:normAutofit/>
          </a:bodyPr>
          <a:lstStyle/>
          <a:p>
            <a:pPr algn="l"/>
            <a:r>
              <a:rPr sz="1019" b="0" dirty="0">
                <a:solidFill>
                  <a:srgbClr val="324463"/>
                </a:solidFill>
                <a:latin typeface="IBM Plex Sans"/>
              </a:rPr>
              <a:t>Help improve {{outcome_1}}, {{outcome_2}}, and {{outcome_3}} across {{</a:t>
            </a:r>
            <a:r>
              <a:rPr sz="1019" b="0" dirty="0" err="1">
                <a:solidFill>
                  <a:srgbClr val="324463"/>
                </a:solidFill>
                <a:latin typeface="IBM Plex Sans"/>
              </a:rPr>
              <a:t>primary_workflow</a:t>
            </a:r>
            <a:r>
              <a:rPr sz="1019" b="0" dirty="0">
                <a:solidFill>
                  <a:srgbClr val="324463"/>
                </a:solidFill>
                <a:latin typeface="IBM Plex Sans"/>
              </a:rPr>
              <a:t>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Faster rider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KYC and onboarding documents move to decision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0207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Cleaner delivery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Parcel photos can be accepted, rejected, or routed to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3035808"/>
            <a:ext cx="27889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5" y="3218688"/>
            <a:ext cx="23317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Space Grotesk"/>
              </a:rPr>
              <a:t>One proof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5" y="3602736"/>
            <a:ext cx="2331720" cy="30175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19" b="0">
                <a:solidFill>
                  <a:srgbClr val="324463"/>
                </a:solidFill>
                <a:latin typeface="IBM Plex Sans"/>
              </a:rPr>
              <a:t>Images, rider files, PODs, AWBs, invoices, and manifests in one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39319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Common workflow bottlenecks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37947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Rider photos are checked manually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Random or unusable images enter ops queues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KYC and shipment fields are retyped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Claims and billing wait for proof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4480560"/>
            <a:ext cx="4297680" cy="14173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42432" y="4681728"/>
            <a:ext cx="37033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What Fracto enables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5029200"/>
            <a:ext cx="3566160" cy="658368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Automated image decisioning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Structured rider and shipment outputs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Reviewer queues only for exceptions</a:t>
            </a:r>
          </a:p>
          <a:p>
            <a:pPr>
              <a:spcAft>
                <a:spcPts val="500"/>
              </a:spcAft>
            </a:pPr>
            <a:r>
              <a:rPr sz="940" b="0">
                <a:solidFill>
                  <a:srgbClr val="324463"/>
                </a:solidFill>
                <a:latin typeface="IBM Plex Sans"/>
              </a:rPr>
              <a:t>- Better delivery proof and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658368" cy="205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329184"/>
            <a:ext cx="182880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30" b="1">
                <a:solidFill>
                  <a:srgbClr val="324463"/>
                </a:solidFill>
                <a:latin typeface="IBM Plex Sans"/>
              </a:rPr>
              <a:t>Book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14032"/>
            <a:ext cx="29260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50" b="0">
                <a:solidFill>
                  <a:srgbClr val="324463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7114032"/>
            <a:ext cx="50292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144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978408"/>
            <a:ext cx="96926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4937760" cy="141732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050" b="1">
                <a:solidFill>
                  <a:srgbClr val="14213D"/>
                </a:solidFill>
                <a:latin typeface="Space Grotesk"/>
              </a:rPr>
              <a:t>{{prospect_name}}, want to review this on a few {{lead_company_name}} delivery files?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470916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060" b="0" dirty="0">
                <a:solidFill>
                  <a:srgbClr val="324463"/>
                </a:solidFill>
                <a:latin typeface="IBM Plex Sans"/>
              </a:rPr>
              <a:t>Book a demo to review rider onboarding documents, parcel image verification, shipment document parsing, and exception routing on sample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75887"/>
            <a:ext cx="475488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34747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IBM Plex Sans"/>
              </a:rPr>
              <a:t>Suggested demo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4069080" cy="694944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Input bundle: {{sample_document_types}}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Flow: {{demo_flow}}</a:t>
            </a:r>
          </a:p>
          <a:p>
            <a:pPr>
              <a:spcAft>
                <a:spcPts val="500"/>
              </a:spcAft>
            </a:pPr>
            <a:r>
              <a:rPr sz="919" b="0">
                <a:solidFill>
                  <a:srgbClr val="324463"/>
                </a:solidFill>
                <a:latin typeface="IBM Plex Sans"/>
              </a:rPr>
              <a:t>- Success metric: {{success_metric}}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9496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541264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pace Grotesk"/>
              </a:rPr>
              <a:t>Demo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925312"/>
            <a:ext cx="4425696" cy="32004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1120" b="0" dirty="0">
                <a:solidFill>
                  <a:srgbClr val="FFFFFF"/>
                </a:solidFill>
                <a:latin typeface="IBM Plex Sans"/>
              </a:rPr>
              <a:t>Review real delivery images. Then scope the right integration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170432"/>
            <a:ext cx="3931920" cy="5074920"/>
          </a:xfrm>
          <a:prstGeom prst="roundRect">
            <a:avLst>
              <a:gd name="adj" fmla="val 8000"/>
            </a:avLst>
          </a:prstGeom>
          <a:solidFill>
            <a:srgbClr val="15314D"/>
          </a:solidFill>
          <a:ln w="12700">
            <a:solidFill>
              <a:srgbClr val="15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153619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600200"/>
            <a:ext cx="1289304" cy="18288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ctr"/>
            <a:r>
              <a:rPr sz="840" b="1">
                <a:solidFill>
                  <a:srgbClr val="0B6D60"/>
                </a:solidFill>
                <a:latin typeface="IBM Plex Sans"/>
              </a:rPr>
              <a:t>TALK TO FRACTO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57400"/>
            <a:ext cx="3246120" cy="594360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Book a demo and review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944368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1364" y="3150108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6892" y="3131820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sales@fracto.tech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57600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1364" y="3863340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6892" y="3845051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+91 84483 33277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370832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0B6D60"/>
          </a:solidFill>
          <a:ln w="12700">
            <a:solidFill>
              <a:srgbClr val="0B6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1364" y="4576572"/>
            <a:ext cx="82296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IBM Plex Sans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6892" y="4558284"/>
            <a:ext cx="214884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pace Grotesk"/>
              </a:rPr>
              <a:t>fracto.tech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413248"/>
            <a:ext cx="329184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norm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IBM Plex Sans"/>
              </a:rPr>
              <a:t>Next step: review a small {{primary_workflow}} sample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1331</Words>
  <Application>Microsoft Macintosh PowerPoint</Application>
  <PresentationFormat>Custom</PresentationFormat>
  <Paragraphs>220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Quick Commerce Delivery Dynamic Sales Deck</dc:title>
  <dc:subject>Personalized client-facing sales deck with editable variables</dc:subject>
  <dc:creator>Fracto</dc:creator>
  <cp:keywords/>
  <dc:description>generated using python-pptx</dc:description>
  <cp:lastModifiedBy>Ankur Gupta</cp:lastModifiedBy>
  <cp:revision>4</cp:revision>
  <dcterms:created xsi:type="dcterms:W3CDTF">2013-01-27T09:14:16Z</dcterms:created>
  <dcterms:modified xsi:type="dcterms:W3CDTF">2026-05-11T17:35:03Z</dcterms:modified>
  <cp:category/>
</cp:coreProperties>
</file>