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132" d="100"/>
          <a:sy n="132" d="100"/>
        </p:scale>
        <p:origin x="592" y="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Road Transportation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32688"/>
            <a:ext cx="361188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96696"/>
            <a:ext cx="339242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AI INFRASTRUCTURE FOR TRANSPORT DOCUMENT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44752"/>
            <a:ext cx="5440680" cy="11704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Space Grotesk"/>
              </a:rPr>
              <a:t>Automate {{primary_workflow}} for {{lead_company_name}}.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72868"/>
            <a:ext cx="5440680" cy="955548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140" b="0" dirty="0">
                <a:solidFill>
                  <a:srgbClr val="324463"/>
                </a:solidFill>
                <a:latin typeface="IBM Plex Sans"/>
              </a:rPr>
              <a:t>Prepared for {{</a:t>
            </a:r>
            <a:r>
              <a:rPr sz="1140" b="0" dirty="0" err="1">
                <a:solidFill>
                  <a:srgbClr val="324463"/>
                </a:solidFill>
                <a:latin typeface="IBM Plex Sans"/>
              </a:rPr>
              <a:t>prospect_name</a:t>
            </a:r>
            <a:r>
              <a:rPr sz="1140" b="0" dirty="0">
                <a:solidFill>
                  <a:srgbClr val="324463"/>
                </a:solidFill>
                <a:latin typeface="IBM Plex Sans"/>
              </a:rPr>
              <a:t>}} and the {{</a:t>
            </a:r>
            <a:r>
              <a:rPr sz="1140" b="0" dirty="0" err="1">
                <a:solidFill>
                  <a:srgbClr val="324463"/>
                </a:solidFill>
                <a:latin typeface="IBM Plex Sans"/>
              </a:rPr>
              <a:t>lead_company_name</a:t>
            </a:r>
            <a:r>
              <a:rPr sz="1140" b="0" dirty="0">
                <a:solidFill>
                  <a:srgbClr val="324463"/>
                </a:solidFill>
                <a:latin typeface="IBM Plex Sans"/>
              </a:rPr>
              <a:t>}} team. Fracto can classify transport documents, extract key fields, and check whether signatures, stamps, and handwritten remarks are present.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47872"/>
            <a:ext cx="498348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3721608"/>
            <a:ext cx="4526280" cy="749808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{{sample_document_types}}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Signature and stamp presence checks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Handwritten remark detection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APIs for ops and proof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7" y="4892040"/>
            <a:ext cx="132587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4960620"/>
            <a:ext cx="621792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50" b="1" dirty="0">
                <a:solidFill>
                  <a:srgbClr val="324463"/>
                </a:solidFill>
                <a:latin typeface="IBM Plex Sans"/>
              </a:rPr>
              <a:t>PODs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4832" y="4892040"/>
            <a:ext cx="16824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08860" y="4960620"/>
            <a:ext cx="1234439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50" b="1" dirty="0">
                <a:solidFill>
                  <a:srgbClr val="324463"/>
                </a:solidFill>
                <a:latin typeface="IBM Plex Sans"/>
              </a:rPr>
              <a:t>Trip sheet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4487" y="48920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50207" y="4960620"/>
            <a:ext cx="9144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50" b="1">
                <a:solidFill>
                  <a:srgbClr val="324463"/>
                </a:solidFill>
                <a:latin typeface="IBM Plex Sans"/>
              </a:rPr>
              <a:t>Hire letters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28523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5353812"/>
            <a:ext cx="73152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50" b="1">
                <a:solidFill>
                  <a:srgbClr val="324463"/>
                </a:solidFill>
                <a:latin typeface="IBM Plex Sans"/>
              </a:rPr>
              <a:t>Remarks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27632" y="5285232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73352" y="5353812"/>
            <a:ext cx="1691639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50" b="1">
                <a:solidFill>
                  <a:srgbClr val="324463"/>
                </a:solidFill>
                <a:latin typeface="IBM Plex Sans"/>
              </a:rPr>
              <a:t>DL, RC, Aadhaar, PAN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932688"/>
            <a:ext cx="3611880" cy="431596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47688" y="1152144"/>
            <a:ext cx="297180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IBM Plex Sans"/>
              </a:rPr>
              <a:t>What this changes for {{lead_company_name}}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7688" y="184708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1993392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POD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2542032"/>
            <a:ext cx="114300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90" b="0">
                <a:solidFill>
                  <a:srgbClr val="324463"/>
                </a:solidFill>
                <a:latin typeface="IBM Plex Sans"/>
              </a:rPr>
              <a:t>Works on proof-of-delivery and transport movement documents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184708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1993392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Presence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42032"/>
            <a:ext cx="114300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90" b="0">
                <a:solidFill>
                  <a:srgbClr val="324463"/>
                </a:solidFill>
                <a:latin typeface="IBM Plex Sans"/>
              </a:rPr>
              <a:t>Detect signature, stamp, and handwritten notes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7688" y="3200400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84848" y="3346704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Ops 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3895344"/>
            <a:ext cx="114300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90" b="0">
                <a:solidFill>
                  <a:srgbClr val="324463"/>
                </a:solidFill>
                <a:latin typeface="IBM Plex Sans"/>
              </a:rPr>
              <a:t>Structured outputs plus review signals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3200400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3346704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Faster proofing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895344"/>
            <a:ext cx="114300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90" b="0">
                <a:solidFill>
                  <a:srgbClr val="324463"/>
                </a:solidFill>
                <a:latin typeface="IBM Plex Sans"/>
              </a:rPr>
              <a:t>Find incomplete documents before downstream disputes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5413248"/>
            <a:ext cx="3566160" cy="1024128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11112" y="5559552"/>
            <a:ext cx="3236976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pace Grotesk"/>
              </a:rPr>
              <a:t>Positioning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5943600"/>
            <a:ext cx="323697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IBM Plex Sans"/>
              </a:rPr>
              <a:t>Replace manual proof checking with one document layer for {{lead_company_name}}.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Reference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837943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TRANSPORT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5257800" cy="9509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100" b="1">
                <a:solidFill>
                  <a:srgbClr val="14213D"/>
                </a:solidFill>
                <a:latin typeface="Space Grotesk"/>
              </a:rPr>
              <a:t>Fracto supports document-heavy road transport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02536"/>
            <a:ext cx="5166360" cy="740664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50" b="0" dirty="0">
                <a:solidFill>
                  <a:srgbClr val="324463"/>
                </a:solidFill>
                <a:latin typeface="IBM Plex Sans"/>
              </a:rPr>
              <a:t>For {{</a:t>
            </a:r>
            <a:r>
              <a:rPr sz="1050" b="0" dirty="0" err="1">
                <a:solidFill>
                  <a:srgbClr val="324463"/>
                </a:solidFill>
                <a:latin typeface="IBM Plex Sans"/>
              </a:rPr>
              <a:t>lead_company_name</a:t>
            </a:r>
            <a:r>
              <a:rPr sz="1050" b="0" dirty="0">
                <a:solidFill>
                  <a:srgbClr val="324463"/>
                </a:solidFill>
                <a:latin typeface="IBM Plex Sans"/>
              </a:rPr>
              <a:t>}}, the same layer can support POD checks, trip documents, proof readiness, and exception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63240"/>
            <a:ext cx="5257800" cy="23317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255264"/>
            <a:ext cx="3749039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40" b="1">
                <a:solidFill>
                  <a:srgbClr val="14213D"/>
                </a:solidFill>
                <a:latin typeface="IBM Plex Sans"/>
              </a:rPr>
              <a:t>Relevant transport and logistics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75887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nav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3838879"/>
            <a:ext cx="1152144" cy="25923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496312" y="3675887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onmove-cropp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922" y="3767327"/>
            <a:ext cx="754380" cy="40233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123944" y="3675887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etstrans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672" y="3842217"/>
            <a:ext cx="1152144" cy="25255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4498848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mvik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7" y="4636568"/>
            <a:ext cx="1152144" cy="30977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496312" y="4498848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vishal-vt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4595846"/>
            <a:ext cx="1152144" cy="39121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123944" y="4498848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trukk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3672" y="4660586"/>
            <a:ext cx="1152144" cy="26173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63640" y="1389888"/>
            <a:ext cx="3611880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1609344"/>
            <a:ext cx="3127248" cy="6217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20" b="1">
                <a:solidFill>
                  <a:srgbClr val="14213D"/>
                </a:solidFill>
                <a:latin typeface="IBM Plex Sans"/>
              </a:rPr>
              <a:t>Why this matters for {{lead_company_name}}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59152"/>
            <a:ext cx="3063240" cy="78638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High POD and proof document volume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Manual checks delay billing readiness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Signatures, stamps, and remarks need review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Exceptions need faster routing to ops teams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30752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3950208"/>
            <a:ext cx="312724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80" b="1">
                <a:solidFill>
                  <a:srgbClr val="14213D"/>
                </a:solidFill>
                <a:latin typeface="IBM Plex Sans"/>
              </a:rPr>
              <a:t>What your team can expect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334256"/>
            <a:ext cx="3063240" cy="859536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Cleaner proof review queues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Earlier incomplete-document flags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Structured outputs for downstream tools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Lower manual effort across review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Why Transport Ops Break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92938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THE OPERATIONAL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5486400" cy="89611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150" b="1">
                <a:solidFill>
                  <a:srgbClr val="14213D"/>
                </a:solidFill>
                <a:latin typeface="Space Grotesk"/>
              </a:rPr>
              <a:t>Transport document review is still manual, repetitive, and easy to miss.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48256"/>
            <a:ext cx="5394960" cy="749808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90" b="0" dirty="0">
                <a:solidFill>
                  <a:srgbClr val="324463"/>
                </a:solidFill>
                <a:latin typeface="IBM Plex Sans"/>
              </a:rPr>
              <a:t>For {{</a:t>
            </a:r>
            <a:r>
              <a:rPr sz="1090" b="0" dirty="0" err="1">
                <a:solidFill>
                  <a:srgbClr val="324463"/>
                </a:solidFill>
                <a:latin typeface="IBM Plex Sans"/>
              </a:rPr>
              <a:t>lead_company_name</a:t>
            </a:r>
            <a:r>
              <a:rPr sz="1090" b="0" dirty="0">
                <a:solidFill>
                  <a:srgbClr val="324463"/>
                </a:solidFill>
                <a:latin typeface="IBM Plex Sans"/>
              </a:rPr>
              <a:t>}}, {{pain_point_1}} can slow down {{</a:t>
            </a:r>
            <a:r>
              <a:rPr sz="1090" b="0" dirty="0" err="1">
                <a:solidFill>
                  <a:srgbClr val="324463"/>
                </a:solidFill>
                <a:latin typeface="IBM Plex Sans"/>
              </a:rPr>
              <a:t>primary_workflow</a:t>
            </a:r>
            <a:r>
              <a:rPr sz="1090" b="0" dirty="0">
                <a:solidFill>
                  <a:srgbClr val="324463"/>
                </a:solidFill>
                <a:latin typeface="IBM Plex Sans"/>
              </a:rPr>
              <a:t>}}.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99232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314553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95828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POD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529584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Signoff checks are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968496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Teams still inspect whether a POD is signed, stamped, or annotated.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999232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10712" y="314553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6432" y="3195828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3529584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Handwritten notes get missed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3968496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Delivery remarks and shortages often sit in handwritten sections.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663440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59" y="4809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860036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193792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Trip sheets and hire docs need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632704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Core fields still get keyed manually for matching and review.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4663440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410712" y="4809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56432" y="4860036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5193792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Proof queues pile up fast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5632704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Backlogs build when every document needs a human visual check.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1389888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1627632"/>
            <a:ext cx="3127248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IBM Plex Sans"/>
              </a:rPr>
              <a:t>Typical failure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048256"/>
            <a:ext cx="3063240" cy="9601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PODs and trip sheets arrive in mixed quality</a:t>
            </a:r>
          </a:p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Teams check stamps and signatures by eye</a:t>
            </a:r>
          </a:p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Handwritten remarks are missed or delayed</a:t>
            </a:r>
          </a:p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Proof completion slows billing and follow-up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749039"/>
            <a:ext cx="3611880" cy="193852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3977639"/>
            <a:ext cx="3127248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IBM Plex Sans"/>
              </a:rPr>
              <a:t>What operators need instead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389120"/>
            <a:ext cx="306324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Fast parsing plus visual presence checks</a:t>
            </a:r>
          </a:p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Flags for missing signoff or missing stamp</a:t>
            </a:r>
          </a:p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Handwritten remark detection for exceptions</a:t>
            </a:r>
          </a:p>
          <a:p>
            <a:pPr>
              <a:spcAft>
                <a:spcPts val="500"/>
              </a:spcAft>
            </a:pPr>
            <a:r>
              <a:rPr sz="1030" b="0">
                <a:solidFill>
                  <a:srgbClr val="324463"/>
                </a:solidFill>
                <a:latin typeface="IBM Plex Sans"/>
              </a:rPr>
              <a:t>- Review only the uncertain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Visual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229514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DOCUMENT IMAGE +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7863840" cy="749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050" b="1" dirty="0">
                <a:solidFill>
                  <a:srgbClr val="14213D"/>
                </a:solidFill>
                <a:latin typeface="Space Grotesk"/>
              </a:rPr>
              <a:t>Visual proof: raw POD image to structured extraction and completeness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84831"/>
            <a:ext cx="7498079" cy="31089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040" b="0" dirty="0">
                <a:solidFill>
                  <a:srgbClr val="324463"/>
                </a:solidFill>
                <a:latin typeface="IBM Plex Sans"/>
              </a:rPr>
              <a:t>Representative transport proof. Fracto keeps the document visible while returning fields, confidence, and visual signoff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670048"/>
            <a:ext cx="4251960" cy="3547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852928"/>
            <a:ext cx="164592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IBM Plex Sans"/>
              </a:rPr>
              <a:t>Sample POD</a:t>
            </a:r>
          </a:p>
        </p:txBody>
      </p:sp>
      <p:pic>
        <p:nvPicPr>
          <p:cNvPr id="12" name="Picture 11" descr="lets-transport-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490" y="3163824"/>
            <a:ext cx="3541139" cy="2542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5870448"/>
            <a:ext cx="365760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80" b="0">
                <a:solidFill>
                  <a:srgbClr val="324463"/>
                </a:solidFill>
                <a:latin typeface="IBM Plex Sans"/>
              </a:rPr>
              <a:t>Example source: mixed print + handwriting proof with visible signoff area.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670048"/>
            <a:ext cx="4526280" cy="1078992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2880360"/>
            <a:ext cx="3977639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IBM Plex Sans"/>
              </a:rPr>
              <a:t>Extracted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218688"/>
            <a:ext cx="3977639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19" b="0">
                <a:solidFill>
                  <a:srgbClr val="324463"/>
                </a:solidFill>
                <a:latin typeface="IBM Plex Sans"/>
              </a:rPr>
              <a:t>CNS No A138687 | invoice 8530137060 | route Krishnapatnam to Thrissur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406908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22392" y="4215384"/>
            <a:ext cx="1819656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19" b="1">
                <a:solidFill>
                  <a:srgbClr val="0B6D60"/>
                </a:solidFill>
                <a:latin typeface="IBM Plex Sans"/>
              </a:rPr>
              <a:t>Visual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4507992"/>
            <a:ext cx="1819656" cy="4297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19" b="0">
                <a:solidFill>
                  <a:srgbClr val="324463"/>
                </a:solidFill>
                <a:latin typeface="IBM Plex Sans"/>
              </a:rPr>
              <a:t>Signature present, stamp present, lower acknowledgement area visible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06908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9831" y="4215384"/>
            <a:ext cx="1819656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19" b="1">
                <a:solidFill>
                  <a:srgbClr val="0B6D60"/>
                </a:solidFill>
                <a:latin typeface="IBM Plex Sans"/>
              </a:rPr>
              <a:t>Exception readout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4507992"/>
            <a:ext cx="1819656" cy="4297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19" b="0">
                <a:solidFill>
                  <a:srgbClr val="324463"/>
                </a:solidFill>
                <a:latin typeface="IBM Plex Sans"/>
              </a:rPr>
              <a:t>Handwritten remarks detected and routed with the extracted POD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5349240"/>
            <a:ext cx="4526280" cy="86868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0" y="5513832"/>
            <a:ext cx="3977639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IBM Plex Sans"/>
              </a:rPr>
              <a:t>Structured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5788152"/>
            <a:ext cx="402336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40" b="0">
                <a:solidFill>
                  <a:srgbClr val="FFFFFF"/>
                </a:solidFill>
                <a:latin typeface="IBM Plex Sans"/>
              </a:rPr>
              <a:t>{ document_type: "POD", signature: true, stamp: true, review_status: "ready"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Workflow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56362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END-TO-END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7680960" cy="6583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150" b="1">
                <a:solidFill>
                  <a:srgbClr val="14213D"/>
                </a:solidFill>
                <a:latin typeface="Space Grotesk"/>
              </a:rPr>
              <a:t>Fracto can sit inside the {{lead_company_name}} proof and billing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40" b="0">
                <a:solidFill>
                  <a:srgbClr val="324463"/>
                </a:solidFill>
                <a:latin typeface="IBM Plex Sans"/>
              </a:rPr>
              <a:t>{{lead_company_name}} uploads {{sample_document_types}} from drivers, hubs, or ops teams.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2852928"/>
            <a:ext cx="2011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500" b="1">
                <a:solidFill>
                  <a:srgbClr val="0E8F7D"/>
                </a:solidFill>
                <a:latin typeface="IBM Plex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54096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18688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40" b="0">
                <a:solidFill>
                  <a:srgbClr val="324463"/>
                </a:solidFill>
                <a:latin typeface="IBM Plex Sans"/>
              </a:rPr>
              <a:t>Each document is identified before the right logic runs.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852928"/>
            <a:ext cx="2011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500" b="1">
                <a:solidFill>
                  <a:srgbClr val="0E8F7D"/>
                </a:solidFill>
                <a:latin typeface="IBM Plex San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9824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14416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Extract and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4416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40" b="0">
                <a:solidFill>
                  <a:srgbClr val="324463"/>
                </a:solidFill>
                <a:latin typeface="IBM Plex Sans"/>
              </a:rPr>
              <a:t>Fields are extracted and checks run for signatures, stamps, and remarks.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2852928"/>
            <a:ext cx="2011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500" b="1">
                <a:solidFill>
                  <a:srgbClr val="0E8F7D"/>
                </a:solidFill>
                <a:latin typeface="IBM Plex Sans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45552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10144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0144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144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40" b="0">
                <a:solidFill>
                  <a:srgbClr val="324463"/>
                </a:solidFill>
                <a:latin typeface="IBM Plex Sans"/>
              </a:rPr>
              <a:t>Exceptions route to {{review_team}} while clean files move to {{downstream_system}}.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572000"/>
            <a:ext cx="46634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773168"/>
            <a:ext cx="402336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High-value insertion 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138928"/>
            <a:ext cx="4069080" cy="89611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{{primary_workflow}} desks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Billing proof checks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Hub ops and exception handling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Trip sheet and document matching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Customer dispute workflows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4572000"/>
            <a:ext cx="4160520" cy="1627632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79592" y="4773168"/>
            <a:ext cx="34747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Decision signals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7024" y="5138928"/>
            <a:ext cx="3474720" cy="89611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Signature present or missing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Stamp present or missing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Handwritten remarks detected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Field confidence and exception flags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Operator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70078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BUSINESS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7818120" cy="11704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80" b="1">
                <a:solidFill>
                  <a:srgbClr val="14213D"/>
                </a:solidFill>
                <a:latin typeface="Space Grotesk"/>
              </a:rPr>
              <a:t>The value case for {{prospect_role}} at {{lead_company_name}}.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7635240" cy="1170432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19" b="0" dirty="0">
                <a:solidFill>
                  <a:srgbClr val="324463"/>
                </a:solidFill>
                <a:latin typeface="IBM Plex Sans"/>
              </a:rPr>
              <a:t>Help improve {{outcome_1}}, {{outcome_2}}, and {{outcome_3}} across {{</a:t>
            </a:r>
            <a:r>
              <a:rPr sz="1019" b="0" dirty="0" err="1">
                <a:solidFill>
                  <a:srgbClr val="324463"/>
                </a:solidFill>
                <a:latin typeface="IBM Plex Sans"/>
              </a:rPr>
              <a:t>primary_workflow</a:t>
            </a:r>
            <a:r>
              <a:rPr sz="1019" b="0" dirty="0">
                <a:solidFill>
                  <a:srgbClr val="324463"/>
                </a:solidFill>
                <a:latin typeface="IBM Plex Sans"/>
              </a:rPr>
              <a:t>}}.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35808"/>
            <a:ext cx="27889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3218688"/>
            <a:ext cx="23317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Space Grotesk"/>
              </a:rPr>
              <a:t>Earlier proof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02736"/>
            <a:ext cx="2331720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40" b="0">
                <a:solidFill>
                  <a:srgbClr val="324463"/>
                </a:solidFill>
                <a:latin typeface="IBM Plex Sans"/>
              </a:rPr>
              <a:t>PODs can be flagged as complete or incomplete faster.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5615" y="3035808"/>
            <a:ext cx="27889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50207" y="3218688"/>
            <a:ext cx="23317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Space Grotesk"/>
              </a:rPr>
              <a:t>Cleaner exceptions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7" y="3602736"/>
            <a:ext cx="2331720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40" b="0">
                <a:solidFill>
                  <a:srgbClr val="324463"/>
                </a:solidFill>
                <a:latin typeface="IBM Plex Sans"/>
              </a:rPr>
              <a:t>Missing signoff and remarks get surfaced earlier.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864" y="3035808"/>
            <a:ext cx="27889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77455" y="3218688"/>
            <a:ext cx="23317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Space Grotesk"/>
              </a:rPr>
              <a:t>One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5" y="3602736"/>
            <a:ext cx="2331720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40" b="0">
                <a:solidFill>
                  <a:srgbClr val="324463"/>
                </a:solidFill>
                <a:latin typeface="IBM Plex Sans"/>
              </a:rPr>
              <a:t>Classification, extraction, and visual checks in one layer.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4526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681728"/>
            <a:ext cx="39319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Common workflow bottlenecks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029200"/>
            <a:ext cx="3794760" cy="658368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Proof-review queues move slowly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Missing signatures are found late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Stamp checks are still manual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Remarks get lost in scanned copies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4480560"/>
            <a:ext cx="429768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42432" y="4681728"/>
            <a:ext cx="37033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What Fracto enables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9864" y="5029200"/>
            <a:ext cx="3566160" cy="658368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Faster proof triage and routing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Structured outputs into ops tools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Manual review only for uncertain cases</a:t>
            </a:r>
          </a:p>
          <a:p>
            <a:pPr>
              <a:spcAft>
                <a:spcPts val="500"/>
              </a:spcAft>
            </a:pPr>
            <a:r>
              <a:rPr sz="969" b="0">
                <a:solidFill>
                  <a:srgbClr val="324463"/>
                </a:solidFill>
                <a:latin typeface="IBM Plex Sans"/>
              </a:rPr>
              <a:t>- Better visibility into proof completeness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Book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96926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4937760" cy="1417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050" b="1">
                <a:solidFill>
                  <a:srgbClr val="14213D"/>
                </a:solidFill>
                <a:latin typeface="Space Grotesk"/>
              </a:rPr>
              <a:t>{{prospect_name}}, want to review this on a few {{lead_company_name}} sample files?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66543"/>
            <a:ext cx="4709160" cy="1252729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60" b="0">
                <a:solidFill>
                  <a:srgbClr val="324463"/>
                </a:solidFill>
                <a:latin typeface="IBM Plex Sans"/>
              </a:rPr>
              <a:t>Book a demo to review {{primary_workflow}}, document parsing, signature and stamp checks, plus exception routing on real transport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675887"/>
            <a:ext cx="47548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877056"/>
            <a:ext cx="34747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IBM Plex Sans"/>
              </a:rPr>
              <a:t>Suggested demo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51960"/>
            <a:ext cx="4069080" cy="69494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19" b="0">
                <a:solidFill>
                  <a:srgbClr val="324463"/>
                </a:solidFill>
                <a:latin typeface="IBM Plex Sans"/>
              </a:rPr>
              <a:t>- Input bundle: {{sample_document_types}}</a:t>
            </a:r>
          </a:p>
          <a:p>
            <a:pPr>
              <a:spcAft>
                <a:spcPts val="500"/>
              </a:spcAft>
            </a:pPr>
            <a:r>
              <a:rPr sz="919" b="0">
                <a:solidFill>
                  <a:srgbClr val="324463"/>
                </a:solidFill>
                <a:latin typeface="IBM Plex Sans"/>
              </a:rPr>
              <a:t>- Flow: {{demo_flow}}</a:t>
            </a:r>
          </a:p>
          <a:p>
            <a:pPr>
              <a:spcAft>
                <a:spcPts val="500"/>
              </a:spcAft>
            </a:pPr>
            <a:r>
              <a:rPr sz="919" b="0">
                <a:solidFill>
                  <a:srgbClr val="324463"/>
                </a:solidFill>
                <a:latin typeface="IBM Plex Sans"/>
              </a:rPr>
              <a:t>- Success metric: {{success_metric}}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394960"/>
            <a:ext cx="4754880" cy="9601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541264"/>
            <a:ext cx="4425696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pace Grotesk"/>
              </a:rPr>
              <a:t>Demo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925312"/>
            <a:ext cx="4425696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IBM Plex Sans"/>
              </a:rPr>
              <a:t>Review real files first. Then scope the right workflow.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170432"/>
            <a:ext cx="3931920" cy="50749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153619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1600200"/>
            <a:ext cx="128930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TALK TO FRACTO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057400"/>
            <a:ext cx="3246120" cy="59436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pace Grotesk"/>
              </a:rPr>
              <a:t>Book a demo and review capabilities.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944368"/>
            <a:ext cx="3337560" cy="530352"/>
          </a:xfrm>
          <a:prstGeom prst="roundRect">
            <a:avLst>
              <a:gd name="adj" fmla="val 8000"/>
            </a:avLst>
          </a:prstGeom>
          <a:solidFill>
            <a:srgbClr val="0B6D60"/>
          </a:solidFill>
          <a:ln w="12700">
            <a:solidFill>
              <a:srgbClr val="0B6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1364" y="3113532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IBM Plex Sans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6892" y="3095244"/>
            <a:ext cx="214884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pace Grotesk"/>
              </a:rPr>
              <a:t>sales@fracto.tech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657600"/>
            <a:ext cx="3337560" cy="530352"/>
          </a:xfrm>
          <a:prstGeom prst="roundRect">
            <a:avLst>
              <a:gd name="adj" fmla="val 8000"/>
            </a:avLst>
          </a:prstGeom>
          <a:solidFill>
            <a:srgbClr val="0B6D60"/>
          </a:solidFill>
          <a:ln w="12700">
            <a:solidFill>
              <a:srgbClr val="0B6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1364" y="3826764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IBM Plex Sans"/>
              </a:rPr>
              <a:t>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6892" y="3808475"/>
            <a:ext cx="214884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pace Grotesk"/>
              </a:rPr>
              <a:t>+91 84483 33277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4370832"/>
            <a:ext cx="3337560" cy="530352"/>
          </a:xfrm>
          <a:prstGeom prst="roundRect">
            <a:avLst>
              <a:gd name="adj" fmla="val 8000"/>
            </a:avLst>
          </a:prstGeom>
          <a:solidFill>
            <a:srgbClr val="0B6D60"/>
          </a:solidFill>
          <a:ln w="12700">
            <a:solidFill>
              <a:srgbClr val="0B6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41364" y="4539996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IBM Plex Sans"/>
              </a:rPr>
              <a:t>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6892" y="4521708"/>
            <a:ext cx="214884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pace Grotesk"/>
              </a:rPr>
              <a:t>fracto.tech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5413248"/>
            <a:ext cx="329184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IBM Plex Sans"/>
              </a:rPr>
              <a:t>Next step: review a small {{primary_workflow}} sample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1065</Words>
  <Application>Microsoft Macintosh PowerPoint</Application>
  <PresentationFormat>Custom</PresentationFormat>
  <Paragraphs>161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IBM Plex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Fracto Road Transport Editable Dynamic Sales Deck</dc:title>
  <dc:subject>Personalized client-facing sales deck with editable variables</dc:subject>
  <dc:creator>Fracto</dc:creator>
  <cp:keywords/>
  <dc:description>generated using python-pptx</dc:description>
  <cp:lastModifiedBy>Ankur Gupta</cp:lastModifiedBy>
  <cp:revision>2</cp:revision>
  <dcterms:created xsi:type="dcterms:W3CDTF">2013-01-27T09:14:16Z</dcterms:created>
  <dcterms:modified xsi:type="dcterms:W3CDTF">2026-05-11T16:22:24Z</dcterms:modified>
  <cp:category/>
</cp:coreProperties>
</file>