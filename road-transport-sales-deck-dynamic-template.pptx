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0692384" cy="755599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98516" y="6989292"/>
            <a:ext cx="2138476" cy="26445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{{lead_company_name}}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8081" y="1208958"/>
            <a:ext cx="5880811" cy="2342357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0E8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1928" y="1397858"/>
            <a:ext cx="2673096" cy="340019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solidFill>
              <a:srgbClr val="D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950" b="1">
                <a:solidFill>
                  <a:srgbClr val="0B6D60"/>
                </a:solidFill>
                <a:latin typeface="IBM Plex Sans"/>
              </a:rPr>
              <a:t>PERSONALIZED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1928" y="1851218"/>
            <a:ext cx="5239268" cy="56669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IBM Plex Sans"/>
              </a:rPr>
              <a:t>Prepared for {{lead_company_name}}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928" y="2455697"/>
            <a:ext cx="5239268" cy="68003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400" b="0">
                <a:solidFill>
                  <a:srgbClr val="324463"/>
                </a:solidFill>
                <a:latin typeface="IBM Plex Sans"/>
              </a:rPr>
              <a:t>Hi {{prospect_name}}, here is how Fracto can help automate {{primary_workflow}} for your transport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928" y="3211296"/>
            <a:ext cx="5239268" cy="26445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050" b="1">
                <a:solidFill>
                  <a:srgbClr val="0B6D60"/>
                </a:solidFill>
                <a:latin typeface="IBM Plex Sans"/>
              </a:rPr>
              <a:t>Persona: {{prospect_role}}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98516" y="6989292"/>
            <a:ext cx="2138476" cy="26445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{{lead_company_name}}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5390" y="831159"/>
            <a:ext cx="8981602" cy="1208958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0E8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238" y="982278"/>
            <a:ext cx="2993867" cy="340019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solidFill>
              <a:srgbClr val="D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950" b="1">
                <a:solidFill>
                  <a:srgbClr val="0B6D60"/>
                </a:solidFill>
                <a:latin typeface="IBM Plex Sans"/>
              </a:rPr>
              <a:t>CLIENT-SPECIFIC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38" y="1397858"/>
            <a:ext cx="8126211" cy="45335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550" b="1">
                <a:solidFill>
                  <a:srgbClr val="14213D"/>
                </a:solidFill>
                <a:latin typeface="IBM Plex Sans"/>
              </a:rPr>
              <a:t>For {{lead_company_name}}, {{pain_point_1}}, {{pain_point_2}}, and {{pain_point_3}} can slow down {{primary_workflow}}.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98516" y="6989292"/>
            <a:ext cx="2138476" cy="26445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{{lead_company_name}}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5390" y="5666994"/>
            <a:ext cx="8981602" cy="1057838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0E8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238" y="5780333"/>
            <a:ext cx="2566172" cy="30223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0B6D60"/>
                </a:solidFill>
                <a:latin typeface="IBM Plex Sans"/>
              </a:rPr>
              <a:t>Priority for {{lead_company_name}}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38" y="6158133"/>
            <a:ext cx="2459248" cy="37779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IBM Plex Sans"/>
              </a:rPr>
              <a:t>{{use_case_1_title}}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6182" y="6158133"/>
            <a:ext cx="2459248" cy="37779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IBM Plex Sans"/>
              </a:rPr>
              <a:t>{{use_case_2_title}}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3125" y="6158133"/>
            <a:ext cx="2459248" cy="37779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250" b="1">
                <a:solidFill>
                  <a:srgbClr val="14213D"/>
                </a:solidFill>
                <a:latin typeface="IBM Plex Sans"/>
              </a:rPr>
              <a:t>{{use_case_3_title}}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98516" y="6989292"/>
            <a:ext cx="2138476" cy="26445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{{lead_company_name}}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8466" y="5742553"/>
            <a:ext cx="9195450" cy="1057838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0E8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2314" y="5855893"/>
            <a:ext cx="8553907" cy="30223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300" b="1">
                <a:solidFill>
                  <a:srgbClr val="0B6D60"/>
                </a:solidFill>
                <a:latin typeface="IBM Plex Sans"/>
              </a:rPr>
              <a:t>Suggested workflow for {{lead_company_name}}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314" y="6233693"/>
            <a:ext cx="8553907" cy="37779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250" b="0">
                <a:solidFill>
                  <a:srgbClr val="14213D"/>
                </a:solidFill>
                <a:latin typeface="IBM Plex Sans"/>
              </a:rPr>
              <a:t>{{lead_company_name}} uploads {{primary_workflow}} files -&gt; Fracto classifies and extracts fields -&gt; exceptions route to {{review_team}} -&gt; clean files move to {{downstream_system}}.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98516" y="6989292"/>
            <a:ext cx="2138476" cy="26445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{{lead_company_name}}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20425" y="717819"/>
            <a:ext cx="4170029" cy="1435638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0E8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34273" y="868939"/>
            <a:ext cx="2138476" cy="340019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solidFill>
              <a:srgbClr val="D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950" b="1">
                <a:solidFill>
                  <a:srgbClr val="0B6D60"/>
                </a:solidFill>
                <a:latin typeface="IBM Plex Sans"/>
              </a:rPr>
              <a:t>SEGMENT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34273" y="1284518"/>
            <a:ext cx="3528486" cy="60447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IBM Plex Sans"/>
              </a:rPr>
              <a:t>{{lead_company_name}} appears to fit the {{segment}} motion, with emphasis on {{primary_workflow}} and {{secondary_workflow}}.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98516" y="6989292"/>
            <a:ext cx="2138476" cy="26445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{{lead_company_name}}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5390" y="906719"/>
            <a:ext cx="8981602" cy="1057838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0E8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238" y="1020058"/>
            <a:ext cx="2780019" cy="30223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0B6D60"/>
                </a:solidFill>
                <a:latin typeface="IBM Plex Sans"/>
              </a:rPr>
              <a:t>Value case for {{prospect_role}}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38" y="1435638"/>
            <a:ext cx="8019288" cy="30223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IBM Plex Sans"/>
              </a:rPr>
              <a:t>Help {{lead_company_name}} improve {{outcome_1}}, {{outcome_2}}, and {{outcome_3}} across {{primary_workflow}}.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98516" y="6989292"/>
            <a:ext cx="2138476" cy="26445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{{lead_company_name}}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5390" y="4684715"/>
            <a:ext cx="8981602" cy="1888998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0E8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238" y="4835834"/>
            <a:ext cx="3742334" cy="30223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300" b="1">
                <a:solidFill>
                  <a:srgbClr val="0B6D60"/>
                </a:solidFill>
                <a:latin typeface="IBM Plex Sans"/>
              </a:rPr>
              <a:t>Custom demo scope for {{lead_company_name}}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38" y="5251414"/>
            <a:ext cx="8233135" cy="1057838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150" b="0">
                <a:solidFill>
                  <a:srgbClr val="324463"/>
                </a:solidFill>
                <a:latin typeface="IBM Plex Sans"/>
              </a:defRPr>
            </a:pPr>
            <a:r>
              <a:t>Input bundle: {{sample_document_types}}</a:t>
            </a:r>
          </a:p>
          <a:p>
            <a:pPr>
              <a:spcAft>
                <a:spcPts val="400"/>
              </a:spcAft>
              <a:defRPr sz="1150" b="0">
                <a:solidFill>
                  <a:srgbClr val="324463"/>
                </a:solidFill>
                <a:latin typeface="IBM Plex Sans"/>
              </a:defRPr>
            </a:pPr>
            <a:r>
              <a:t>Flow: {{demo_flow}}</a:t>
            </a:r>
          </a:p>
          <a:p>
            <a:pPr>
              <a:spcAft>
                <a:spcPts val="400"/>
              </a:spcAft>
              <a:defRPr sz="1150" b="0">
                <a:solidFill>
                  <a:srgbClr val="324463"/>
                </a:solidFill>
                <a:latin typeface="IBM Plex Sans"/>
              </a:defRPr>
            </a:pPr>
            <a:r>
              <a:t>Success metric: {{success_metric}}</a:t>
            </a:r>
          </a:p>
          <a:p>
            <a:pPr>
              <a:spcAft>
                <a:spcPts val="400"/>
              </a:spcAft>
              <a:defRPr sz="1150" b="0">
                <a:solidFill>
                  <a:srgbClr val="324463"/>
                </a:solidFill>
                <a:latin typeface="IBM Plex Sans"/>
              </a:defRPr>
            </a:pPr>
            <a:r>
              <a:t>Integration target: {{integration_target}}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98516" y="6989292"/>
            <a:ext cx="2138476" cy="26445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850" b="0">
                <a:solidFill>
                  <a:srgbClr val="324463"/>
                </a:solidFill>
                <a:latin typeface="IBM Plex Sans"/>
              </a:rPr>
              <a:t>{{lead_company_name}}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8081" y="982278"/>
            <a:ext cx="5453115" cy="1813438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2700">
            <a:solidFill>
              <a:srgbClr val="0E8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1928" y="1133398"/>
            <a:ext cx="2352324" cy="340019"/>
          </a:xfrm>
          <a:prstGeom prst="roundRect">
            <a:avLst>
              <a:gd name="adj" fmla="val 50000"/>
            </a:avLst>
          </a:prstGeom>
          <a:solidFill>
            <a:srgbClr val="DAF6F0"/>
          </a:solidFill>
          <a:ln>
            <a:solidFill>
              <a:srgbClr val="DA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950" b="1">
                <a:solidFill>
                  <a:srgbClr val="0B6D60"/>
                </a:solidFill>
                <a:latin typeface="IBM Plex Sans"/>
              </a:rPr>
              <a:t>PERSONAL CTA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1928" y="1548978"/>
            <a:ext cx="4811572" cy="56669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IBM Plex Sans"/>
              </a:rPr>
              <a:t>{{prospect_name}}, want to review this on a few {{lead_company_name}} sample files?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928" y="2191237"/>
            <a:ext cx="4811572" cy="302239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l"/>
            <a:r>
              <a:rPr sz="1200" b="1">
                <a:solidFill>
                  <a:srgbClr val="0B6D60"/>
                </a:solidFill>
                <a:latin typeface="IBM Plex Sans"/>
              </a:rPr>
              <a:t>CTA: {{cta_link}}</a:t>
            </a:r>
          </a:p>
        </p:txBody>
      </p:sp>
    </p:spTree>
  </p:cSld>
  <p:clrMapOvr>
    <a:masterClrMapping/>
  </p:clrMapOvr>
</p:sld>
</file>

<file path=ppt/slides/slide9.xml><?xml version="1.0" encoding="utf-8"?>
<ns0:sld xmlns:ns0="http://schemas.openxmlformats.org/presentationml/2006/main" xmlns:ns1="http://schemas.openxmlformats.org/drawingml/2006/main" show="0">
  <ns0:cSld>
    <ns0:bg>
      <ns0:bgPr>
        <ns1:solidFill>
          <ns1:srgbClr val="FFFDF8"/>
        </ns1:solidFill>
        <ns1:effectLst/>
      </ns0:bgPr>
    </ns0:bg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748466" y="604479"/>
            <ns1:ext cx="8553907" cy="453359"/>
          </ns1:xfrm>
          <ns1:prstGeom prst="rect">
            <ns1:avLst/>
          </ns1:prstGeom>
          <ns1:noFill/>
        </ns0:spPr>
        <ns0:txBody>
          <ns1:bodyPr wrap="square" lIns="38100" rIns="38100" tIns="12700" bIns="12700">
            <ns1:spAutoFit/>
          </ns1:bodyPr>
          <ns1:lstStyle/>
          <ns1:p>
            <ns1:pPr algn="l"/>
            <ns1:r>
              <ns1:rPr sz="2600" b="1">
                <ns1:solidFill>
                  <ns1:srgbClr val="14213D"/>
                </ns1:solidFill>
                <ns1:latin typeface="IBM Plex Sans"/>
              </ns1:rPr>
              <ns1:t>Automation Variable Reference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748466" y="1208958"/>
            <ns1:ext cx="8767754" cy="377799"/>
          </ns1:xfrm>
          <ns1:prstGeom prst="rect">
            <ns1:avLst/>
          </ns1:prstGeom>
          <ns1:noFill/>
        </ns0:spPr>
        <ns0:txBody>
          <ns1:bodyPr wrap="square" lIns="38100" rIns="38100" tIns="12700" bIns="12700">
            <ns1:spAutoFit/>
          </ns1:bodyPr>
          <ns1:lstStyle/>
          <ns1:p>
            <ns1:pPr algn="l"/>
            <ns1:r>
              <ns1:rPr sz="1300" b="0">
                <ns1:solidFill>
                  <ns1:srgbClr val="324463"/>
                </ns1:solidFill>
                <ns1:latin typeface="IBM Plex Sans"/>
              </ns1:rPr>
              <ns1:t>These tokens are intentionally present as editable PPT text so Fracto workflows can replace them before sending.</ns1:t>
            </ns1:r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962314" y="1888998"/>
            <ns1:ext cx="8340059" cy="4382475"/>
          </ns1:xfrm>
          <ns1:prstGeom prst="rect">
            <ns1:avLst/>
          </ns1:prstGeom>
          <ns1:noFill/>
        </ns0:spPr>
        <ns0:txBody>
          <ns1:bodyPr wrap="square" lIns="76200" rIns="76200" tIns="50800" bIns="50800">
            <ns1:spAutoFit/>
          </ns1:bodyPr>
          <ns1:lstStyle/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{{lead_company_name}}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{{prospect_name}}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{{prospect_role}}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{{segment}}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{{primary_workflow}}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{{secondary_workflow}}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{{pain_point_1}}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{{pain_point_2}}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{{pain_point_3}}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{{use_case_1_title}}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{{use_case_2_title}}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{{use_case_3_title}}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{{review_team}}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{{downstream_system}}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{{outcome_1}}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{{outcome_2}}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{{outcome_3}}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{{sample_document_types}}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{{demo_flow}}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{{success_metric}}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{{integration_target}}</ns1:t>
            </ns1:r>
          </ns1:p>
          <ns1:p>
            <ns1:pPr>
              <ns1:spcAft>
                <ns1:spcPts val="400"/>
              </ns1:spcAft>
              <ns1:defRPr sz="1400" b="0">
                <ns1:solidFill>
                  <ns1:srgbClr val="324463"/>
                </ns1:solidFill>
                <ns1:latin typeface="IBM Plex Sans"/>
              </ns1:defRPr>
            </ns1:pPr>
            <ns1:r>
              <ns1:t>{{cta_link}}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748466" y="6649272"/>
            <ns1:ext cx="8767754" cy="302239"/>
          </ns1:xfrm>
          <ns1:prstGeom prst="rect">
            <ns1:avLst/>
          </ns1:prstGeom>
          <ns1:noFill/>
        </ns0:spPr>
        <ns0:txBody>
          <ns1:bodyPr wrap="square" lIns="38100" rIns="38100" tIns="12700" bIns="12700">
            <ns1:spAutoFit/>
          </ns1:bodyPr>
          <ns1:lstStyle/>
          <ns1:p>
            <ns1:pPr algn="l"/>
            <ns1:r>
              <ns1:rPr sz="1050" b="0">
                <ns1:solidFill>
                  <ns1:srgbClr val="BF5B76"/>
                </ns1:solidFill>
                <ns1:latin typeface="IBM Plex Sans"/>
              </ns1:rPr>
              <ns1:t>Delete this slide from generated client-facing copies if not needed.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Fracto Road Transport Dynamic Sales Deck Template</dc:title>
  <dc:subject>Template PPTX with editable personalization variables</dc:subject>
  <dc:creator>Fracto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